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by naming the elephant: "We don't have a Joule licence. This session is not about Joule."</a:t>
            </a:r>
          </a:p>
          <a:p/>
          <a:p>
            <a:r>
              <a:t>Then the turn: "We already own everything I'm going to show you today. Nothing here needs a purchase order."</a:t>
            </a:r>
          </a:p>
          <a:p/>
          <a:p>
            <a:r>
              <a:t>Keep this slide to 30 seconds. The energy is in slide 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message: the constraint people assume (no licence) is not the real constraint.</a:t>
            </a:r>
          </a:p>
          <a:p/>
          <a:p>
            <a:r>
              <a:t>Ask the room by show of hands — "who has changed a single Copilot setting since it was installed?" Expect almost no hands. That's the session in one gesture.</a:t>
            </a:r>
          </a:p>
          <a:p/>
          <a:p>
            <a:r>
              <a:t>Be honest that the repo assets are unused. Don't blame anyone; nobody announced them. That's what today fixes.</a:t>
            </a:r>
          </a:p>
          <a:p/>
          <a:p>
            <a:r>
              <a:t>Do NOT get drawn into a "when do we get Joule" discussion here. Park it: "licensing is a separate conversation I'm having; today is about what we have."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Say: "I'll check the first one at the end — I want to see it running on your machine, not in a follow-up email."</a:t>
            </a:r>
          </a:p>
          <a:p/>
          <a:p>
            <a:r>
              <a:t>Setting that expectation now is what makes the adoption slide land later.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spine of the whole session. Spend the full three minutes; everything after this hangs off it.</a:t>
            </a:r>
          </a:p>
          <a:p/>
          <a:p>
            <a:r>
              <a:t>Draw it as three steps on a stair if you can. Level 1 is where the team is today. Level 2 is one file copy. Level 3 is one connection.</a:t>
            </a:r>
          </a:p>
          <a:p/>
          <a:p>
            <a:r>
              <a:t>The line to land, slowly: "The model does not get smarter between levels. We give it context." Say it, pause, then move on.</a:t>
            </a:r>
          </a:p>
          <a:p/>
          <a:p>
            <a:r>
              <a:t>If someone asks how this compares to Joule — Joule is essentially level 2 and 3 delivered by SAP, tuned on SAP's own ABAP model. We're assembling the same shape from tools we own.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careful not to trash Copilot here — half the room uses it daily and likes it. The framing is "unconfigured", not "bad".</a:t>
            </a:r>
          </a:p>
          <a:p/>
          <a:p>
            <a:r>
              <a:t>The invented-names point is the one that scares people appropriately. Give a concrete example if you have one from a real review.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the actual file on screen for a few seconds — people trust what they've seen.</a:t>
            </a:r>
          </a:p>
          <a:p/>
          <a:p>
            <a:r>
              <a:t>Emphasise that this is per-repo. It goes in *their* project repo, not just ours. That's the action item.</a:t>
            </a:r>
          </a:p>
          <a:p/>
          <a:p>
            <a:r>
              <a:t>The prompt files are the underrated half — they encode a whole method, not just context. We'll see one in the demo.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Don't go deep on the protocol. What matters is the behavioural difference: guessing versus reading.</a:t>
            </a:r>
          </a:p>
          <a:p/>
          <a:p>
            <a:r>
              <a:t>State the safety rule clearly and early, because the next thing someone will worry about is an agent loose in the system. Reads free, writes gated. It's written up in reference/adt-mcp-usage.md.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 10 minutes.</a:t>
            </a:r>
          </a:p>
          <a:p/>
          <a:p>
            <a:r>
              <a:t>Run the bare version first and read the output aloud, slowly. Point at the direct table access. Point at any invented field name. Let the room see it before you fix it.</a:t>
            </a:r>
          </a:p>
          <a:p/>
          <a:p>
            <a:r>
              <a:t>Then the level 2 run. Put the two side by side on screen if you can.</a:t>
            </a:r>
          </a:p>
          <a:p/>
          <a:p>
            <a:r>
              <a:t>The moment that matters is [CONFIRM in ADT] — where an unconfigured model invents, a configured one admits it doesn't know. Say that explicitly; it's the difference between a tool you can review and one you can't.</a:t>
            </a:r>
          </a:p>
          <a:p/>
          <a:p>
            <a:r>
              <a:t>Closing line: "Same model. Same question. We gave it our standards."</a:t>
            </a:r>
          </a:p>
          <a:p/>
          <a:p>
            <a:r>
              <a:t>FALLBACK: play the pre-recorded run. Model behaviour varies and the bare version is not reliably bad — that's exactly why we recorded it in the dry run.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 10 minutes. This is the centrepiece of the session.</a:t>
            </a:r>
          </a:p>
          <a:p/>
          <a:p>
            <a:r>
              <a:t>Use a custom object the room recognises, so they can verify the field list themselves rather than taking it on trust. That verification is the whole point.</a:t>
            </a:r>
          </a:p>
          <a:p/>
          <a:p>
            <a:r>
              <a:t>On the multi-step task, make the tool calls visible on screen. People need to see it reaching into the system, not producing text.</a:t>
            </a:r>
          </a:p>
          <a:p/>
          <a:p>
            <a:r>
              <a:t>Closing line: "Level 2 stops it inventing our standards. Level 3 stops it inventing our system."</a:t>
            </a:r>
          </a:p>
          <a:p/>
          <a:p>
            <a:r>
              <a:t>FALLBACK: recordings plus screenshots of the tool calls. Check the MCP connection an hour before the session — this demo does not degrade gracefully.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 5 minutes. Short and pointed.</a:t>
            </a:r>
          </a:p>
          <a:p/>
          <a:p>
            <a:r>
              <a:t>The important beat: the generated code looks fine. Nobody reading it casually would object. That's why the check exists and why review doesn't get easier just because a machine wrote it.</a:t>
            </a:r>
          </a:p>
          <a:p/>
          <a:p>
            <a:r>
              <a:t>This is the hook into session 3, which is entirely about that check. Say so.</a:t>
            </a:r>
          </a:p>
          <a:p/>
          <a:p>
            <a:r>
              <a:t>Closing line: "The tooling helps. The contract does not move."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Eight minutes, and worth every one. This is where you earn developer trust — a session that only sells the tooling gets discounted.</a:t>
            </a:r>
          </a:p>
          <a:p/>
          <a:p>
            <a:r>
              <a:t>Invite examples: "who has had it invent a field name?" Let two or three people tell their story. Their examples are more persuasive than mine.</a:t>
            </a:r>
          </a:p>
          <a:p/>
          <a:p>
            <a:r>
              <a:t>Then close the loop: every single failure on this slide is an argument FOR level 2 and level 3, not against the tooling. The unconfigured tool fails this way. The configured, grounded one fails less.</a:t>
            </a:r>
          </a:p>
          <a:p/>
          <a:p>
            <a:r>
              <a:t>The RAP bullet is a deliberate hook into session 2 — flag 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Slow down here. These two sentences are what I most want them to remember in six months.</a:t>
            </a:r>
          </a:p>
          <a:p/>
          <a:p>
            <a:r>
              <a:t>Rule 2 matters culturally more than technically. The moment someone treats generated code as someone else's problem, quality falls off a cliff. Ownership does not transfer to the tool.</a:t>
            </a:r>
          </a:p>
          <a:p/>
          <a:p>
            <a:r>
              <a:t>Say plainly: I will not accept "Copilot wrote it" in a review, and neither should you when you're reviewing each other.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minutes, and make it concrete. Have the repo URL on screen.</a:t>
            </a:r>
          </a:p>
          <a:p/>
          <a:p>
            <a:r>
              <a:t>If the meeting format allows, do the file copy live with them right now — two minutes of everyone doing it beats a week of it being homework. Adoption drops off a cliff the moment this becomes a to-do.</a:t>
            </a:r>
          </a:p>
          <a:p/>
          <a:p>
            <a:r>
              <a:t>Name one person to try /abap-unit-test on a real class this week and report back at session 2. A named commitment beats a general encouragement.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"screenshot this one" out loud and then stop talking for five seconds so they actually do it.</a:t>
            </a:r>
          </a:p>
          <a:p/>
          <a:p>
            <a:r>
              <a:t>This slide is the artefact that outlives the session. Export it to PDF and put the link in the session log.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minutes of discussion. If the room is quiet, name someone whose work you know touches this.</a:t>
            </a:r>
          </a:p>
          <a:p/>
          <a:p>
            <a:r>
              <a:t>Question 2 is the one to protect time for — it's the start of our agent governance policy, and the answers should go into the follow-ups table in the session plan. This is genuinely undecided on the project; their input shapes it.</a:t>
            </a:r>
          </a:p>
          <a:p/>
          <a:p>
            <a:r>
              <a:t>Close on the session 2 teaser verbatim: "It will write you a determination where the rule should have been a validation. Session 2 is how you tell."</a:t>
            </a:r>
          </a:p>
          <a:p/>
          <a:p>
            <a:r>
              <a:t>Then: thank them, remind them of the file copy, end on time.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2331720"/>
            <a:ext cx="12191695" cy="54864"/>
          </a:xfrm>
          <a:prstGeom prst="rect">
            <a:avLst/>
          </a:prstGeom>
          <a:solidFill>
            <a:srgbClr val="0A6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417320"/>
            <a:ext cx="10607040" cy="914400"/>
          </a:xfrm>
          <a:prstGeom prst="rect">
            <a:avLst/>
          </a:prstGeom>
          <a:noFill/>
        </p:spPr>
        <p:txBody>
          <a:bodyPr wrap="square">
            <a:spAutoFit/>
          </a:bodyPr>
          <a:lstStyle/>
          <a:p>
            <a:pPr algn="l"/>
            <a:r>
              <a:rPr sz="3800" b="1">
                <a:solidFill>
                  <a:srgbClr val="1A1A1A"/>
                </a:solidFill>
                <a:latin typeface="Segoe UI"/>
              </a:rPr>
              <a:t>AI-Assisted ABAP With the Tools We Already Have</a:t>
            </a:r>
          </a:p>
        </p:txBody>
      </p:sp>
      <p:sp>
        <p:nvSpPr>
          <p:cNvPr id="4" name="TextBox 3"/>
          <p:cNvSpPr txBox="1"/>
          <p:nvPr/>
        </p:nvSpPr>
        <p:spPr>
          <a:xfrm>
            <a:off x="685800" y="2606040"/>
            <a:ext cx="10607040" cy="1463040"/>
          </a:xfrm>
          <a:prstGeom prst="rect">
            <a:avLst/>
          </a:prstGeom>
          <a:noFill/>
        </p:spPr>
        <p:txBody>
          <a:bodyPr wrap="square">
            <a:spAutoFit/>
          </a:bodyPr>
          <a:lstStyle/>
          <a:p>
            <a:pPr>
              <a:spcAft>
                <a:spcPts val="600"/>
              </a:spcAft>
            </a:pPr>
            <a:r>
              <a:rPr sz="1700" b="0">
                <a:solidFill>
                  <a:srgbClr val="5A5A5A"/>
                </a:solidFill>
                <a:latin typeface="Segoe UI"/>
              </a:rPr>
              <a:t>COE Session 01 · Copilot, Claude Code, and the ABAP MCP Server</a:t>
            </a:r>
          </a:p>
          <a:p>
            <a:pPr>
              <a:spcAft>
                <a:spcPts val="600"/>
              </a:spcAft>
            </a:pPr>
            <a:r>
              <a:rPr sz="1700" b="0">
                <a:solidFill>
                  <a:srgbClr val="5A5A5A"/>
                </a:solidFill>
                <a:latin typeface="Segoe UI"/>
              </a:rPr>
              <a:t>Ramjee</a:t>
            </a:r>
          </a:p>
          <a:p>
            <a:pPr>
              <a:spcAft>
                <a:spcPts val="600"/>
              </a:spcAft>
            </a:pPr>
            <a:r>
              <a:rPr sz="1700" b="0">
                <a:solidFill>
                  <a:srgbClr val="5A5A5A"/>
                </a:solidFill>
                <a:latin typeface="Segoe UI"/>
              </a:rPr>
              <a:t>2026-09-11 14:00 IST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84048"/>
            <a:ext cx="9326880" cy="868680"/>
          </a:xfrm>
          <a:prstGeom prst="rect">
            <a:avLst/>
          </a:prstGeom>
          <a:noFill/>
        </p:spPr>
        <p:txBody>
          <a:bodyPr wrap="square" anchor="t">
            <a:spAutoFit/>
          </a:bodyPr>
          <a:lstStyle/>
          <a:p>
            <a:r>
              <a:rPr sz="2900" b="1">
                <a:solidFill>
                  <a:srgbClr val="1A1A1A"/>
                </a:solidFill>
                <a:latin typeface="Segoe UI"/>
              </a:rPr>
              <a:t>Why This Session, Now</a:t>
            </a:r>
          </a:p>
        </p:txBody>
      </p:sp>
      <p:sp>
        <p:nvSpPr>
          <p:cNvPr id="3" name="Rectangle 2"/>
          <p:cNvSpPr/>
          <p:nvPr/>
        </p:nvSpPr>
        <p:spPr>
          <a:xfrm>
            <a:off x="685800" y="1316736"/>
            <a:ext cx="1051560" cy="50292"/>
          </a:xfrm>
          <a:prstGeom prst="rect">
            <a:avLst/>
          </a:prstGeom>
          <a:solidFill>
            <a:srgbClr val="0A6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378440" y="457200"/>
            <a:ext cx="1188720" cy="365760"/>
          </a:xfrm>
          <a:prstGeom prst="rect">
            <a:avLst/>
          </a:prstGeom>
          <a:noFill/>
        </p:spPr>
        <p:txBody>
          <a:bodyPr wrap="square">
            <a:spAutoFit/>
          </a:bodyPr>
          <a:lstStyle/>
          <a:p>
            <a:pPr algn="r"/>
            <a:r>
              <a:rPr sz="1200" b="1">
                <a:solidFill>
                  <a:srgbClr val="0A6ED1"/>
                </a:solidFill>
                <a:latin typeface="Segoe UI"/>
              </a:rPr>
              <a:t>1:30</a:t>
            </a:r>
          </a:p>
        </p:txBody>
      </p:sp>
      <p:sp>
        <p:nvSpPr>
          <p:cNvPr id="5" name="TextBox 4"/>
          <p:cNvSpPr txBox="1"/>
          <p:nvPr/>
        </p:nvSpPr>
        <p:spPr>
          <a:xfrm>
            <a:off x="685800" y="1600200"/>
            <a:ext cx="10817352" cy="4709160"/>
          </a:xfrm>
          <a:prstGeom prst="rect">
            <a:avLst/>
          </a:prstGeom>
          <a:noFill/>
        </p:spPr>
        <p:txBody>
          <a:bodyPr wrap="square">
            <a:spAutoFit/>
          </a:bodyPr>
          <a:lstStyle/>
          <a:p>
            <a:pPr>
              <a:spcAft>
                <a:spcPts val="1100"/>
              </a:spcAft>
            </a:pPr>
            <a:r>
              <a:rPr sz="1900" b="0">
                <a:solidFill>
                  <a:srgbClr val="1A1A1A"/>
                </a:solidFill>
                <a:latin typeface="Segoe UI"/>
              </a:rPr>
              <a:t>•  No Joule for Developers licence on this project — SAP's ABAP AI assistant is not available to us</a:t>
            </a:r>
          </a:p>
          <a:p>
            <a:pPr>
              <a:spcAft>
                <a:spcPts val="1100"/>
              </a:spcAft>
            </a:pPr>
            <a:r>
              <a:rPr sz="1900" b="0">
                <a:solidFill>
                  <a:srgbClr val="1A1A1A"/>
                </a:solidFill>
                <a:latin typeface="Segoe UI"/>
              </a:rPr>
              <a:t>•  But every one of you already has </a:t>
            </a:r>
            <a:r>
              <a:rPr sz="1900" b="1">
                <a:solidFill>
                  <a:srgbClr val="1A1A1A"/>
                </a:solidFill>
                <a:latin typeface="Segoe UI"/>
              </a:rPr>
              <a:t>GitHub Copilot</a:t>
            </a:r>
            <a:r>
              <a:rPr sz="1900" b="0">
                <a:solidFill>
                  <a:srgbClr val="1A1A1A"/>
                </a:solidFill>
                <a:latin typeface="Segoe UI"/>
              </a:rPr>
              <a:t> in VS Code and Eclipse</a:t>
            </a:r>
          </a:p>
          <a:p>
            <a:pPr>
              <a:spcAft>
                <a:spcPts val="1100"/>
              </a:spcAft>
            </a:pPr>
            <a:r>
              <a:rPr sz="1900" b="0">
                <a:solidFill>
                  <a:srgbClr val="1A1A1A"/>
                </a:solidFill>
                <a:latin typeface="Segoe UI"/>
              </a:rPr>
              <a:t>•  We have an </a:t>
            </a:r>
            <a:r>
              <a:rPr sz="1900" b="1">
                <a:solidFill>
                  <a:srgbClr val="1A1A1A"/>
                </a:solidFill>
                <a:latin typeface="Segoe UI"/>
              </a:rPr>
              <a:t>ABAP MCP server</a:t>
            </a:r>
            <a:r>
              <a:rPr sz="1900" b="0">
                <a:solidFill>
                  <a:srgbClr val="1A1A1A"/>
                </a:solidFill>
                <a:latin typeface="Segoe UI"/>
              </a:rPr>
              <a:t> configured that almost nobody uses</a:t>
            </a:r>
          </a:p>
          <a:p>
            <a:pPr>
              <a:spcAft>
                <a:spcPts val="1100"/>
              </a:spcAft>
            </a:pPr>
            <a:r>
              <a:rPr sz="1900" b="0">
                <a:solidFill>
                  <a:srgbClr val="1A1A1A"/>
                </a:solidFill>
                <a:latin typeface="Segoe UI"/>
              </a:rPr>
              <a:t>•  Our </a:t>
            </a:r>
            <a:r>
              <a:rPr sz="1900" b="0">
                <a:solidFill>
                  <a:srgbClr val="1A1A1A"/>
                </a:solidFill>
                <a:latin typeface="Consolas"/>
              </a:rPr>
              <a:t>sap-technical-assets</a:t>
            </a:r>
            <a:r>
              <a:rPr sz="1900" b="0">
                <a:solidFill>
                  <a:srgbClr val="1A1A1A"/>
                </a:solidFill>
                <a:latin typeface="Segoe UI"/>
              </a:rPr>
              <a:t> repo has </a:t>
            </a:r>
            <a:r>
              <a:rPr sz="1900" b="1">
                <a:solidFill>
                  <a:srgbClr val="1A1A1A"/>
                </a:solidFill>
                <a:latin typeface="Segoe UI"/>
              </a:rPr>
              <a:t>repo-wide Copilot instructions and 11 prompt files</a:t>
            </a:r>
            <a:r>
              <a:rPr sz="1900" b="0">
                <a:solidFill>
                  <a:srgbClr val="1A1A1A"/>
                </a:solidFill>
                <a:latin typeface="Segoe UI"/>
              </a:rPr>
              <a:t> — written, committed, and unused</a:t>
            </a:r>
          </a:p>
          <a:p>
            <a:pPr>
              <a:spcAft>
                <a:spcPts val="1100"/>
              </a:spcAft>
            </a:pPr>
            <a:r>
              <a:rPr sz="1900" b="0">
                <a:solidFill>
                  <a:srgbClr val="1A1A1A"/>
                </a:solidFill>
                <a:latin typeface="Segoe UI"/>
              </a:rPr>
              <a:t>•  The gap is not licensing. We are running level 1 tooling that goes to level 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84048"/>
            <a:ext cx="9326880" cy="868680"/>
          </a:xfrm>
          <a:prstGeom prst="rect">
            <a:avLst/>
          </a:prstGeom>
          <a:noFill/>
        </p:spPr>
        <p:txBody>
          <a:bodyPr wrap="square" anchor="t">
            <a:spAutoFit/>
          </a:bodyPr>
          <a:lstStyle/>
          <a:p>
            <a:r>
              <a:rPr sz="2900" b="1">
                <a:solidFill>
                  <a:srgbClr val="1A1A1A"/>
                </a:solidFill>
                <a:latin typeface="Segoe UI"/>
              </a:rPr>
              <a:t>What You'll Be Able to Do After This</a:t>
            </a:r>
          </a:p>
        </p:txBody>
      </p:sp>
      <p:sp>
        <p:nvSpPr>
          <p:cNvPr id="3" name="Rectangle 2"/>
          <p:cNvSpPr/>
          <p:nvPr/>
        </p:nvSpPr>
        <p:spPr>
          <a:xfrm>
            <a:off x="685800" y="1316736"/>
            <a:ext cx="1051560" cy="50292"/>
          </a:xfrm>
          <a:prstGeom prst="rect">
            <a:avLst/>
          </a:prstGeom>
          <a:solidFill>
            <a:srgbClr val="0A6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378440" y="457200"/>
            <a:ext cx="1188720" cy="365760"/>
          </a:xfrm>
          <a:prstGeom prst="rect">
            <a:avLst/>
          </a:prstGeom>
          <a:noFill/>
        </p:spPr>
        <p:txBody>
          <a:bodyPr wrap="square">
            <a:spAutoFit/>
          </a:bodyPr>
          <a:lstStyle/>
          <a:p>
            <a:pPr algn="r"/>
            <a:r>
              <a:rPr sz="1200" b="1">
                <a:solidFill>
                  <a:srgbClr val="0A6ED1"/>
                </a:solidFill>
                <a:latin typeface="Segoe UI"/>
              </a:rPr>
              <a:t>1:00</a:t>
            </a:r>
          </a:p>
        </p:txBody>
      </p:sp>
      <p:sp>
        <p:nvSpPr>
          <p:cNvPr id="5" name="TextBox 4"/>
          <p:cNvSpPr txBox="1"/>
          <p:nvPr/>
        </p:nvSpPr>
        <p:spPr>
          <a:xfrm>
            <a:off x="685800" y="1600200"/>
            <a:ext cx="10817352" cy="4709160"/>
          </a:xfrm>
          <a:prstGeom prst="rect">
            <a:avLst/>
          </a:prstGeom>
          <a:noFill/>
        </p:spPr>
        <p:txBody>
          <a:bodyPr wrap="square">
            <a:spAutoFit/>
          </a:bodyPr>
          <a:lstStyle/>
          <a:p>
            <a:pPr>
              <a:spcAft>
                <a:spcPts val="1100"/>
              </a:spcAft>
            </a:pPr>
            <a:r>
              <a:rPr sz="1900" b="0">
                <a:solidFill>
                  <a:srgbClr val="1A1A1A"/>
                </a:solidFill>
                <a:latin typeface="Segoe UI"/>
              </a:rPr>
              <a:t>•  Install our Copilot instructions and prompt files in </a:t>
            </a:r>
            <a:r>
              <a:rPr sz="1900" b="1">
                <a:solidFill>
                  <a:srgbClr val="1A1A1A"/>
                </a:solidFill>
                <a:latin typeface="Segoe UI"/>
              </a:rPr>
              <a:t>your own project repo</a:t>
            </a:r>
            <a:r>
              <a:rPr sz="1900" b="0">
                <a:solidFill>
                  <a:srgbClr val="1A1A1A"/>
                </a:solidFill>
                <a:latin typeface="Segoe UI"/>
              </a:rPr>
              <a:t>, and run </a:t>
            </a:r>
            <a:r>
              <a:rPr sz="1900" b="0">
                <a:solidFill>
                  <a:srgbClr val="1A1A1A"/>
                </a:solidFill>
                <a:latin typeface="Consolas"/>
              </a:rPr>
              <a:t>/rap-bo-scaffold</a:t>
            </a:r>
            <a:r>
              <a:rPr sz="1900" b="0">
                <a:solidFill>
                  <a:srgbClr val="1A1A1A"/>
                </a:solidFill>
                <a:latin typeface="Segoe UI"/>
              </a:rPr>
              <a:t> and </a:t>
            </a:r>
            <a:r>
              <a:rPr sz="1900" b="0">
                <a:solidFill>
                  <a:srgbClr val="1A1A1A"/>
                </a:solidFill>
                <a:latin typeface="Consolas"/>
              </a:rPr>
              <a:t>/abap-unit-test</a:t>
            </a:r>
            <a:r>
              <a:rPr sz="1900" b="0">
                <a:solidFill>
                  <a:srgbClr val="1A1A1A"/>
                </a:solidFill>
                <a:latin typeface="Segoe UI"/>
              </a:rPr>
              <a:t> end to end</a:t>
            </a:r>
          </a:p>
          <a:p>
            <a:pPr>
              <a:spcAft>
                <a:spcPts val="1100"/>
              </a:spcAft>
            </a:pPr>
            <a:r>
              <a:rPr sz="1900" b="0">
                <a:solidFill>
                  <a:srgbClr val="1A1A1A"/>
                </a:solidFill>
                <a:latin typeface="Segoe UI"/>
              </a:rPr>
              <a:t>•  Explain and demonstrate why an </a:t>
            </a:r>
            <a:r>
              <a:rPr sz="1900" b="1">
                <a:solidFill>
                  <a:srgbClr val="1A1A1A"/>
                </a:solidFill>
                <a:latin typeface="Segoe UI"/>
              </a:rPr>
              <a:t>MCP-connected agent</a:t>
            </a:r>
            <a:r>
              <a:rPr sz="1900" b="0">
                <a:solidFill>
                  <a:srgbClr val="1A1A1A"/>
                </a:solidFill>
                <a:latin typeface="Segoe UI"/>
              </a:rPr>
              <a:t> answers differently from plain chat — and say when that difference matters</a:t>
            </a:r>
          </a:p>
          <a:p>
            <a:pPr>
              <a:spcAft>
                <a:spcPts val="1100"/>
              </a:spcAft>
            </a:pPr>
            <a:r>
              <a:rPr sz="1900" b="0">
                <a:solidFill>
                  <a:srgbClr val="1A1A1A"/>
                </a:solidFill>
                <a:latin typeface="Segoe UI"/>
              </a:rPr>
              <a:t>•  Apply the </a:t>
            </a:r>
            <a:r>
              <a:rPr sz="1900" b="1">
                <a:solidFill>
                  <a:srgbClr val="1A1A1A"/>
                </a:solidFill>
                <a:latin typeface="Segoe UI"/>
              </a:rPr>
              <a:t>two guardrails</a:t>
            </a:r>
            <a:r>
              <a:rPr sz="1900" b="0">
                <a:solidFill>
                  <a:srgbClr val="1A1A1A"/>
                </a:solidFill>
                <a:latin typeface="Segoe UI"/>
              </a:rPr>
              <a:t> to any generated line: the released-API check still applies, and generated code is reviewed like hand-written code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84048"/>
            <a:ext cx="9326880" cy="868680"/>
          </a:xfrm>
          <a:prstGeom prst="rect">
            <a:avLst/>
          </a:prstGeom>
          <a:noFill/>
        </p:spPr>
        <p:txBody>
          <a:bodyPr wrap="square" anchor="t">
            <a:spAutoFit/>
          </a:bodyPr>
          <a:lstStyle/>
          <a:p>
            <a:r>
              <a:rPr sz="2900" b="1">
                <a:solidFill>
                  <a:srgbClr val="1A1A1A"/>
                </a:solidFill>
                <a:latin typeface="Segoe UI"/>
              </a:rPr>
              <a:t>The Three Levels of AI Assistance</a:t>
            </a:r>
          </a:p>
        </p:txBody>
      </p:sp>
      <p:sp>
        <p:nvSpPr>
          <p:cNvPr id="3" name="Rectangle 2"/>
          <p:cNvSpPr/>
          <p:nvPr/>
        </p:nvSpPr>
        <p:spPr>
          <a:xfrm>
            <a:off x="685800" y="1316736"/>
            <a:ext cx="1051560" cy="50292"/>
          </a:xfrm>
          <a:prstGeom prst="rect">
            <a:avLst/>
          </a:prstGeom>
          <a:solidFill>
            <a:srgbClr val="0A6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378440" y="457200"/>
            <a:ext cx="1188720" cy="365760"/>
          </a:xfrm>
          <a:prstGeom prst="rect">
            <a:avLst/>
          </a:prstGeom>
          <a:noFill/>
        </p:spPr>
        <p:txBody>
          <a:bodyPr wrap="square">
            <a:spAutoFit/>
          </a:bodyPr>
          <a:lstStyle/>
          <a:p>
            <a:pPr algn="r"/>
            <a:r>
              <a:rPr sz="1200" b="1">
                <a:solidFill>
                  <a:srgbClr val="0A6ED1"/>
                </a:solidFill>
                <a:latin typeface="Segoe UI"/>
              </a:rPr>
              <a:t>3:00</a:t>
            </a:r>
          </a:p>
        </p:txBody>
      </p:sp>
      <p:sp>
        <p:nvSpPr>
          <p:cNvPr id="5" name="Rounded Rectangle 4"/>
          <p:cNvSpPr/>
          <p:nvPr/>
        </p:nvSpPr>
        <p:spPr>
          <a:xfrm>
            <a:off x="685800" y="3082625"/>
            <a:ext cx="3436010" cy="2494117"/>
          </a:xfrm>
          <a:prstGeom prst="roundRect">
            <a:avLst/>
          </a:prstGeom>
          <a:solidFill>
            <a:srgbClr val="E8F1FB"/>
          </a:solidFill>
          <a:ln w="15875">
            <a:solidFill>
              <a:srgbClr val="0A6ED1"/>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r>
              <a:rPr sz="1800" b="1">
                <a:solidFill>
                  <a:srgbClr val="054A8F"/>
                </a:solidFill>
                <a:latin typeface="Segoe UI"/>
              </a:rPr>
              <a:t>Level 1 — Ungrounded</a:t>
            </a:r>
          </a:p>
          <a:p>
            <a:pPr algn="ctr">
              <a:spcBef>
                <a:spcPts val="400"/>
              </a:spcBef>
            </a:pPr>
            <a:r>
              <a:rPr sz="1300" b="0">
                <a:solidFill>
                  <a:srgbClr val="1A1A1A"/>
                </a:solidFill>
                <a:latin typeface="Segoe UI"/>
              </a:rPr>
              <a:t>Plain Copilot, no configuration. Generic ABAP from its training data.</a:t>
            </a:r>
          </a:p>
        </p:txBody>
      </p:sp>
      <p:sp>
        <p:nvSpPr>
          <p:cNvPr id="6" name="Right Arrow 5"/>
          <p:cNvSpPr/>
          <p:nvPr/>
        </p:nvSpPr>
        <p:spPr>
          <a:xfrm>
            <a:off x="4140098" y="3570732"/>
            <a:ext cx="219456" cy="201168"/>
          </a:xfrm>
          <a:prstGeom prst="rightArrow">
            <a:avLst/>
          </a:prstGeom>
          <a:solidFill>
            <a:srgbClr val="0A6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377842" y="2424257"/>
            <a:ext cx="3436010" cy="2494117"/>
          </a:xfrm>
          <a:prstGeom prst="roundRect">
            <a:avLst/>
          </a:prstGeom>
          <a:solidFill>
            <a:srgbClr val="8FC0EC"/>
          </a:solidFill>
          <a:ln w="15875">
            <a:solidFill>
              <a:srgbClr val="0A6ED1"/>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r>
              <a:rPr sz="1800" b="1">
                <a:solidFill>
                  <a:srgbClr val="054A8F"/>
                </a:solidFill>
                <a:latin typeface="Segoe UI"/>
              </a:rPr>
              <a:t>Level 2 — Instructed</a:t>
            </a:r>
          </a:p>
          <a:p>
            <a:pPr algn="ctr">
              <a:spcBef>
                <a:spcPts val="400"/>
              </a:spcBef>
            </a:pPr>
            <a:r>
              <a:rPr sz="1300" b="0">
                <a:solidFill>
                  <a:srgbClr val="1A1A1A"/>
                </a:solidFill>
                <a:latin typeface="Segoe UI"/>
              </a:rPr>
              <a:t>+ repo-wide instructions and prompt files. Knows </a:t>
            </a:r>
            <a:r>
              <a:rPr sz="1300" b="1">
                <a:solidFill>
                  <a:srgbClr val="1A1A1A"/>
                </a:solidFill>
                <a:latin typeface="Segoe UI"/>
              </a:rPr>
              <a:t>our</a:t>
            </a:r>
            <a:r>
              <a:rPr sz="1300" b="0">
                <a:solidFill>
                  <a:srgbClr val="1A1A1A"/>
                </a:solidFill>
                <a:latin typeface="Segoe UI"/>
              </a:rPr>
              <a:t> platform, standards, naming, Clean Core rules.</a:t>
            </a:r>
          </a:p>
        </p:txBody>
      </p:sp>
      <p:sp>
        <p:nvSpPr>
          <p:cNvPr id="8" name="Right Arrow 7"/>
          <p:cNvSpPr/>
          <p:nvPr/>
        </p:nvSpPr>
        <p:spPr>
          <a:xfrm>
            <a:off x="7832140" y="2912364"/>
            <a:ext cx="219456" cy="201168"/>
          </a:xfrm>
          <a:prstGeom prst="rightArrow">
            <a:avLst/>
          </a:prstGeom>
          <a:solidFill>
            <a:srgbClr val="0A6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069884" y="1765889"/>
            <a:ext cx="3436010" cy="2494117"/>
          </a:xfrm>
          <a:prstGeom prst="roundRect">
            <a:avLst/>
          </a:prstGeom>
          <a:solidFill>
            <a:srgbClr val="0A6ED1"/>
          </a:solidFill>
          <a:ln w="15875">
            <a:solidFill>
              <a:srgbClr val="0A6ED1"/>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r>
              <a:rPr sz="1800" b="1">
                <a:solidFill>
                  <a:srgbClr val="FFFFFF"/>
                </a:solidFill>
                <a:latin typeface="Segoe UI"/>
              </a:rPr>
              <a:t>Level 3 — Grounded</a:t>
            </a:r>
          </a:p>
          <a:p>
            <a:pPr algn="ctr">
              <a:spcBef>
                <a:spcPts val="400"/>
              </a:spcBef>
            </a:pPr>
            <a:r>
              <a:rPr sz="1300" b="0">
                <a:solidFill>
                  <a:srgbClr val="FFFFFF"/>
                </a:solidFill>
                <a:latin typeface="Segoe UI"/>
              </a:rPr>
              <a:t>+ MCP server. Reads the </a:t>
            </a:r>
            <a:r>
              <a:rPr sz="1300" b="1">
                <a:solidFill>
                  <a:srgbClr val="FFFFFF"/>
                </a:solidFill>
                <a:latin typeface="Segoe UI"/>
              </a:rPr>
              <a:t>actual</a:t>
            </a:r>
            <a:r>
              <a:rPr sz="1300" b="0">
                <a:solidFill>
                  <a:srgbClr val="FFFFFF"/>
                </a:solidFill>
                <a:latin typeface="Segoe UI"/>
              </a:rPr>
              <a:t> objects, field lists and API release states from our system.</a:t>
            </a:r>
          </a:p>
        </p:txBody>
      </p:sp>
      <p:sp>
        <p:nvSpPr>
          <p:cNvPr id="10" name="TextBox 9"/>
          <p:cNvSpPr txBox="1"/>
          <p:nvPr/>
        </p:nvSpPr>
        <p:spPr>
          <a:xfrm>
            <a:off x="685800" y="5852160"/>
            <a:ext cx="10817352" cy="411480"/>
          </a:xfrm>
          <a:prstGeom prst="rect">
            <a:avLst/>
          </a:prstGeom>
          <a:noFill/>
        </p:spPr>
        <p:txBody>
          <a:bodyPr wrap="square">
            <a:spAutoFit/>
          </a:bodyPr>
          <a:lstStyle/>
          <a:p>
            <a:pPr algn="ctr"/>
            <a:r>
              <a:rPr sz="1600" b="1">
                <a:solidFill>
                  <a:srgbClr val="054A8F"/>
                </a:solidFill>
                <a:latin typeface="Segoe UI"/>
              </a:rPr>
              <a:t>The model does not get smarter between levels. We give it context.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84048"/>
            <a:ext cx="9326880" cy="868680"/>
          </a:xfrm>
          <a:prstGeom prst="rect">
            <a:avLst/>
          </a:prstGeom>
          <a:noFill/>
        </p:spPr>
        <p:txBody>
          <a:bodyPr wrap="square" anchor="t">
            <a:spAutoFit/>
          </a:bodyPr>
          <a:lstStyle/>
          <a:p>
            <a:r>
              <a:rPr sz="2900" b="1">
                <a:solidFill>
                  <a:srgbClr val="1A1A1A"/>
                </a:solidFill>
                <a:latin typeface="Segoe UI"/>
              </a:rPr>
              <a:t>Level 1 — What You Get Today</a:t>
            </a:r>
          </a:p>
        </p:txBody>
      </p:sp>
      <p:sp>
        <p:nvSpPr>
          <p:cNvPr id="3" name="Rectangle 2"/>
          <p:cNvSpPr/>
          <p:nvPr/>
        </p:nvSpPr>
        <p:spPr>
          <a:xfrm>
            <a:off x="685800" y="1316736"/>
            <a:ext cx="1051560" cy="50292"/>
          </a:xfrm>
          <a:prstGeom prst="rect">
            <a:avLst/>
          </a:prstGeom>
          <a:solidFill>
            <a:srgbClr val="0A6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378440" y="457200"/>
            <a:ext cx="1188720" cy="365760"/>
          </a:xfrm>
          <a:prstGeom prst="rect">
            <a:avLst/>
          </a:prstGeom>
          <a:noFill/>
        </p:spPr>
        <p:txBody>
          <a:bodyPr wrap="square">
            <a:spAutoFit/>
          </a:bodyPr>
          <a:lstStyle/>
          <a:p>
            <a:pPr algn="r"/>
            <a:r>
              <a:rPr sz="1200" b="1">
                <a:solidFill>
                  <a:srgbClr val="0A6ED1"/>
                </a:solidFill>
                <a:latin typeface="Segoe UI"/>
              </a:rPr>
              <a:t>2:00</a:t>
            </a:r>
          </a:p>
        </p:txBody>
      </p:sp>
      <p:sp>
        <p:nvSpPr>
          <p:cNvPr id="5" name="TextBox 4"/>
          <p:cNvSpPr txBox="1"/>
          <p:nvPr/>
        </p:nvSpPr>
        <p:spPr>
          <a:xfrm>
            <a:off x="685800" y="1600200"/>
            <a:ext cx="10817352" cy="4709160"/>
          </a:xfrm>
          <a:prstGeom prst="rect">
            <a:avLst/>
          </a:prstGeom>
          <a:noFill/>
        </p:spPr>
        <p:txBody>
          <a:bodyPr wrap="square">
            <a:spAutoFit/>
          </a:bodyPr>
          <a:lstStyle/>
          <a:p>
            <a:pPr>
              <a:spcAft>
                <a:spcPts val="1100"/>
              </a:spcAft>
            </a:pPr>
            <a:r>
              <a:rPr sz="1900" b="0">
                <a:solidFill>
                  <a:srgbClr val="1A1A1A"/>
                </a:solidFill>
                <a:latin typeface="Segoe UI"/>
              </a:rPr>
              <a:t>•  Copilot with no instructions is working from public ABAP on the internet</a:t>
            </a:r>
          </a:p>
          <a:p>
            <a:pPr>
              <a:spcAft>
                <a:spcPts val="1100"/>
              </a:spcAft>
            </a:pPr>
            <a:r>
              <a:rPr sz="1900" b="0">
                <a:solidFill>
                  <a:srgbClr val="1A1A1A"/>
                </a:solidFill>
                <a:latin typeface="Segoe UI"/>
              </a:rPr>
              <a:t>•  That corpus is overwhelmingly </a:t>
            </a:r>
            <a:r>
              <a:rPr sz="1900" b="1">
                <a:solidFill>
                  <a:srgbClr val="1A1A1A"/>
                </a:solidFill>
                <a:latin typeface="Segoe UI"/>
              </a:rPr>
              <a:t>classic, on-premise ABAP</a:t>
            </a:r>
            <a:r>
              <a:rPr sz="1900" b="0">
                <a:solidFill>
                  <a:srgbClr val="1A1A1A"/>
                </a:solidFill>
                <a:latin typeface="Segoe UI"/>
              </a:rPr>
              <a:t> — so that is what it writes</a:t>
            </a:r>
          </a:p>
          <a:p>
            <a:pPr>
              <a:spcAft>
                <a:spcPts val="1100"/>
              </a:spcAft>
            </a:pPr>
            <a:r>
              <a:rPr sz="1900" b="0">
                <a:solidFill>
                  <a:srgbClr val="1A1A1A"/>
                </a:solidFill>
                <a:latin typeface="Segoe UI"/>
              </a:rPr>
              <a:t>•  It does not know: our release, ABAP Cloud restrictions, what is released in *our* system, our naming, our packages</a:t>
            </a:r>
          </a:p>
          <a:p>
            <a:pPr>
              <a:spcAft>
                <a:spcPts val="1100"/>
              </a:spcAft>
            </a:pPr>
            <a:r>
              <a:rPr sz="1900" b="0">
                <a:solidFill>
                  <a:srgbClr val="1A1A1A"/>
                </a:solidFill>
                <a:latin typeface="Segoe UI"/>
              </a:rPr>
              <a:t>•  It will invent SAP table, field and BAPI names that look completely plausible</a:t>
            </a:r>
          </a:p>
          <a:p>
            <a:pPr>
              <a:spcAft>
                <a:spcPts val="1100"/>
              </a:spcAft>
            </a:pPr>
            <a:r>
              <a:rPr sz="1900" b="0">
                <a:solidFill>
                  <a:srgbClr val="1A1A1A"/>
                </a:solidFill>
                <a:latin typeface="Segoe UI"/>
              </a:rPr>
              <a:t>•  This is not a criticism of the tool. It is a description of an unconfigured tool.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84048"/>
            <a:ext cx="9326880" cy="868680"/>
          </a:xfrm>
          <a:prstGeom prst="rect">
            <a:avLst/>
          </a:prstGeom>
          <a:noFill/>
        </p:spPr>
        <p:txBody>
          <a:bodyPr wrap="square" anchor="t">
            <a:spAutoFit/>
          </a:bodyPr>
          <a:lstStyle/>
          <a:p>
            <a:r>
              <a:rPr sz="2900" b="1">
                <a:solidFill>
                  <a:srgbClr val="1A1A1A"/>
                </a:solidFill>
                <a:latin typeface="Segoe UI"/>
              </a:rPr>
              <a:t>Level 2 — One File Copy</a:t>
            </a:r>
          </a:p>
        </p:txBody>
      </p:sp>
      <p:sp>
        <p:nvSpPr>
          <p:cNvPr id="3" name="Rectangle 2"/>
          <p:cNvSpPr/>
          <p:nvPr/>
        </p:nvSpPr>
        <p:spPr>
          <a:xfrm>
            <a:off x="685800" y="1316736"/>
            <a:ext cx="1051560" cy="50292"/>
          </a:xfrm>
          <a:prstGeom prst="rect">
            <a:avLst/>
          </a:prstGeom>
          <a:solidFill>
            <a:srgbClr val="0A6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378440" y="457200"/>
            <a:ext cx="1188720" cy="365760"/>
          </a:xfrm>
          <a:prstGeom prst="rect">
            <a:avLst/>
          </a:prstGeom>
          <a:noFill/>
        </p:spPr>
        <p:txBody>
          <a:bodyPr wrap="square">
            <a:spAutoFit/>
          </a:bodyPr>
          <a:lstStyle/>
          <a:p>
            <a:pPr algn="r"/>
            <a:r>
              <a:rPr sz="1200" b="1">
                <a:solidFill>
                  <a:srgbClr val="0A6ED1"/>
                </a:solidFill>
                <a:latin typeface="Segoe UI"/>
              </a:rPr>
              <a:t>2:00</a:t>
            </a:r>
          </a:p>
        </p:txBody>
      </p:sp>
      <p:sp>
        <p:nvSpPr>
          <p:cNvPr id="5" name="TextBox 4"/>
          <p:cNvSpPr txBox="1"/>
          <p:nvPr/>
        </p:nvSpPr>
        <p:spPr>
          <a:xfrm>
            <a:off x="685800" y="1600200"/>
            <a:ext cx="10817352" cy="4709160"/>
          </a:xfrm>
          <a:prstGeom prst="rect">
            <a:avLst/>
          </a:prstGeom>
          <a:noFill/>
        </p:spPr>
        <p:txBody>
          <a:bodyPr wrap="square">
            <a:spAutoFit/>
          </a:bodyPr>
          <a:lstStyle/>
          <a:p>
            <a:pPr>
              <a:spcAft>
                <a:spcPts val="1100"/>
              </a:spcAft>
            </a:pPr>
            <a:r>
              <a:rPr sz="1900" b="0">
                <a:solidFill>
                  <a:srgbClr val="1A1A1A"/>
                </a:solidFill>
                <a:latin typeface="Segoe UI"/>
              </a:rPr>
              <a:t>•  </a:t>
            </a:r>
            <a:r>
              <a:rPr sz="1900" b="0">
                <a:solidFill>
                  <a:srgbClr val="1A1A1A"/>
                </a:solidFill>
                <a:latin typeface="Consolas"/>
              </a:rPr>
              <a:t>.github/copilot-instructions.md</a:t>
            </a:r>
            <a:r>
              <a:rPr sz="1900" b="0">
                <a:solidFill>
                  <a:srgbClr val="1A1A1A"/>
                </a:solidFill>
                <a:latin typeface="Segoe UI"/>
              </a:rPr>
              <a:t> — repo-wide context Copilot Chat picks up for </a:t>
            </a:r>
            <a:r>
              <a:rPr sz="1900" b="1">
                <a:solidFill>
                  <a:srgbClr val="1A1A1A"/>
                </a:solidFill>
                <a:latin typeface="Segoe UI"/>
              </a:rPr>
              <a:t>every</a:t>
            </a:r>
            <a:r>
              <a:rPr sz="1900" b="0">
                <a:solidFill>
                  <a:srgbClr val="1A1A1A"/>
                </a:solidFill>
                <a:latin typeface="Segoe UI"/>
              </a:rPr>
              <a:t> chat in that repo</a:t>
            </a:r>
          </a:p>
          <a:p>
            <a:pPr>
              <a:spcAft>
                <a:spcPts val="1100"/>
              </a:spcAft>
            </a:pPr>
            <a:r>
              <a:rPr sz="1900" b="0">
                <a:solidFill>
                  <a:srgbClr val="1A1A1A"/>
                </a:solidFill>
                <a:latin typeface="Segoe UI"/>
              </a:rPr>
              <a:t>•  Tells it: S/4HANA Cloud Private Edition 2025 · ABAP Cloud language version · released APIs only · Clean ABAP · our naming · RAP defaults</a:t>
            </a:r>
          </a:p>
          <a:p>
            <a:pPr>
              <a:spcAft>
                <a:spcPts val="1100"/>
              </a:spcAft>
            </a:pPr>
            <a:r>
              <a:rPr sz="1900" b="0">
                <a:solidFill>
                  <a:srgbClr val="1A1A1A"/>
                </a:solidFill>
                <a:latin typeface="Segoe UI"/>
              </a:rPr>
              <a:t>•  </a:t>
            </a:r>
            <a:r>
              <a:rPr sz="1900" b="0">
                <a:solidFill>
                  <a:srgbClr val="1A1A1A"/>
                </a:solidFill>
                <a:latin typeface="Consolas"/>
              </a:rPr>
              <a:t>.github/prompts/*.prompt.md</a:t>
            </a:r>
            <a:r>
              <a:rPr sz="1900" b="0">
                <a:solidFill>
                  <a:srgbClr val="1A1A1A"/>
                </a:solidFill>
                <a:latin typeface="Segoe UI"/>
              </a:rPr>
              <a:t> — reusable prompts you invoke with </a:t>
            </a:r>
            <a:r>
              <a:rPr sz="1900" b="0">
                <a:solidFill>
                  <a:srgbClr val="1A1A1A"/>
                </a:solidFill>
                <a:latin typeface="Consolas"/>
              </a:rPr>
              <a:t>/name</a:t>
            </a:r>
            <a:r>
              <a:rPr sz="1900" b="0">
                <a:solidFill>
                  <a:srgbClr val="1A1A1A"/>
                </a:solidFill>
                <a:latin typeface="Segoe UI"/>
              </a:rPr>
              <a:t> on a selection</a:t>
            </a:r>
          </a:p>
          <a:p>
            <a:pPr>
              <a:spcAft>
                <a:spcPts val="1100"/>
              </a:spcAft>
            </a:pPr>
            <a:r>
              <a:rPr sz="1900" b="0">
                <a:solidFill>
                  <a:srgbClr val="1A1A1A"/>
                </a:solidFill>
                <a:latin typeface="Segoe UI"/>
              </a:rPr>
              <a:t>•  Same model. Same question. Very different answer.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84048"/>
            <a:ext cx="9326880" cy="868680"/>
          </a:xfrm>
          <a:prstGeom prst="rect">
            <a:avLst/>
          </a:prstGeom>
          <a:noFill/>
        </p:spPr>
        <p:txBody>
          <a:bodyPr wrap="square" anchor="t">
            <a:spAutoFit/>
          </a:bodyPr>
          <a:lstStyle/>
          <a:p>
            <a:r>
              <a:rPr sz="2900" b="1">
                <a:solidFill>
                  <a:srgbClr val="1A1A1A"/>
                </a:solidFill>
                <a:latin typeface="Segoe UI"/>
              </a:rPr>
              <a:t>Level 3 — Grounding via the ABAP MCP Server</a:t>
            </a:r>
          </a:p>
        </p:txBody>
      </p:sp>
      <p:sp>
        <p:nvSpPr>
          <p:cNvPr id="3" name="Rectangle 2"/>
          <p:cNvSpPr/>
          <p:nvPr/>
        </p:nvSpPr>
        <p:spPr>
          <a:xfrm>
            <a:off x="685800" y="1316736"/>
            <a:ext cx="1051560" cy="50292"/>
          </a:xfrm>
          <a:prstGeom prst="rect">
            <a:avLst/>
          </a:prstGeom>
          <a:solidFill>
            <a:srgbClr val="0A6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378440" y="457200"/>
            <a:ext cx="1188720" cy="365760"/>
          </a:xfrm>
          <a:prstGeom prst="rect">
            <a:avLst/>
          </a:prstGeom>
          <a:noFill/>
        </p:spPr>
        <p:txBody>
          <a:bodyPr wrap="square">
            <a:spAutoFit/>
          </a:bodyPr>
          <a:lstStyle/>
          <a:p>
            <a:pPr algn="r"/>
            <a:r>
              <a:rPr sz="1200" b="1">
                <a:solidFill>
                  <a:srgbClr val="0A6ED1"/>
                </a:solidFill>
                <a:latin typeface="Segoe UI"/>
              </a:rPr>
              <a:t>2:00</a:t>
            </a:r>
          </a:p>
        </p:txBody>
      </p:sp>
      <p:sp>
        <p:nvSpPr>
          <p:cNvPr id="5" name="TextBox 4"/>
          <p:cNvSpPr txBox="1"/>
          <p:nvPr/>
        </p:nvSpPr>
        <p:spPr>
          <a:xfrm>
            <a:off x="685800" y="1600200"/>
            <a:ext cx="10817352" cy="4709160"/>
          </a:xfrm>
          <a:prstGeom prst="rect">
            <a:avLst/>
          </a:prstGeom>
          <a:noFill/>
        </p:spPr>
        <p:txBody>
          <a:bodyPr wrap="square">
            <a:spAutoFit/>
          </a:bodyPr>
          <a:lstStyle/>
          <a:p>
            <a:pPr>
              <a:spcAft>
                <a:spcPts val="1100"/>
              </a:spcAft>
            </a:pPr>
            <a:r>
              <a:rPr sz="1900" b="0">
                <a:solidFill>
                  <a:srgbClr val="1A1A1A"/>
                </a:solidFill>
                <a:latin typeface="Segoe UI"/>
              </a:rPr>
              <a:t>•  MCP = an open protocol for connecting an AI agent to real tools and data</a:t>
            </a:r>
          </a:p>
          <a:p>
            <a:pPr>
              <a:spcAft>
                <a:spcPts val="1100"/>
              </a:spcAft>
            </a:pPr>
            <a:r>
              <a:rPr sz="1900" b="0">
                <a:solidFill>
                  <a:srgbClr val="1A1A1A"/>
                </a:solidFill>
                <a:latin typeface="Segoe UI"/>
              </a:rPr>
              <a:t>•  Our ABAP MCP server exposes the system: read object source, DDIC and CDS metadata, where-used, </a:t>
            </a:r>
            <a:r>
              <a:rPr sz="1900" b="1">
                <a:solidFill>
                  <a:srgbClr val="1A1A1A"/>
                </a:solidFill>
                <a:latin typeface="Segoe UI"/>
              </a:rPr>
              <a:t>API release state</a:t>
            </a:r>
            <a:r>
              <a:rPr sz="1900" b="0">
                <a:solidFill>
                  <a:srgbClr val="1A1A1A"/>
                </a:solidFill>
                <a:latin typeface="Segoe UI"/>
              </a:rPr>
              <a:t>, syntax check, ATC, ABAP Unit</a:t>
            </a:r>
          </a:p>
          <a:p>
            <a:pPr>
              <a:spcAft>
                <a:spcPts val="1100"/>
              </a:spcAft>
            </a:pPr>
            <a:r>
              <a:rPr sz="1900" b="0">
                <a:solidFill>
                  <a:srgbClr val="1A1A1A"/>
                </a:solidFill>
                <a:latin typeface="Segoe UI"/>
              </a:rPr>
              <a:t>•  The agent stops guessing about our system and starts reading it</a:t>
            </a:r>
          </a:p>
          <a:p>
            <a:pPr>
              <a:spcAft>
                <a:spcPts val="1100"/>
              </a:spcAft>
            </a:pPr>
            <a:r>
              <a:rPr sz="1900" b="0">
                <a:solidFill>
                  <a:srgbClr val="1A1A1A"/>
                </a:solidFill>
                <a:latin typeface="Segoe UI"/>
              </a:rPr>
              <a:t>•  Our rule: </a:t>
            </a:r>
            <a:r>
              <a:rPr sz="1900" b="1">
                <a:solidFill>
                  <a:srgbClr val="1A1A1A"/>
                </a:solidFill>
                <a:latin typeface="Segoe UI"/>
              </a:rPr>
              <a:t>reads are free, writes need explicit human confirmation</a:t>
            </a:r>
            <a:r>
              <a:rPr sz="1900" b="0">
                <a:solidFill>
                  <a:srgbClr val="1A1A1A"/>
                </a:solidFill>
                <a:latin typeface="Segoe UI"/>
              </a:rPr>
              <a:t> — no object creation, activation or transport without a yes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84048"/>
            <a:ext cx="9326880" cy="868680"/>
          </a:xfrm>
          <a:prstGeom prst="rect">
            <a:avLst/>
          </a:prstGeom>
          <a:noFill/>
        </p:spPr>
        <p:txBody>
          <a:bodyPr wrap="square" anchor="t">
            <a:spAutoFit/>
          </a:bodyPr>
          <a:lstStyle/>
          <a:p>
            <a:r>
              <a:rPr sz="2900" b="1">
                <a:solidFill>
                  <a:srgbClr val="1A1A1A"/>
                </a:solidFill>
                <a:latin typeface="Segoe UI"/>
              </a:rPr>
              <a:t>DEMO 1 — Same Ask, Two Results</a:t>
            </a:r>
          </a:p>
        </p:txBody>
      </p:sp>
      <p:sp>
        <p:nvSpPr>
          <p:cNvPr id="3" name="Rectangle 2"/>
          <p:cNvSpPr/>
          <p:nvPr/>
        </p:nvSpPr>
        <p:spPr>
          <a:xfrm>
            <a:off x="685800" y="1316736"/>
            <a:ext cx="1051560" cy="50292"/>
          </a:xfrm>
          <a:prstGeom prst="rect">
            <a:avLst/>
          </a:prstGeom>
          <a:solidFill>
            <a:srgbClr val="0A6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378440" y="457200"/>
            <a:ext cx="1188720" cy="365760"/>
          </a:xfrm>
          <a:prstGeom prst="rect">
            <a:avLst/>
          </a:prstGeom>
          <a:noFill/>
        </p:spPr>
        <p:txBody>
          <a:bodyPr wrap="square">
            <a:spAutoFit/>
          </a:bodyPr>
          <a:lstStyle/>
          <a:p>
            <a:pPr algn="r"/>
            <a:r>
              <a:rPr sz="1200" b="1">
                <a:solidFill>
                  <a:srgbClr val="0A6ED1"/>
                </a:solidFill>
                <a:latin typeface="Segoe UI"/>
              </a:rPr>
              <a:t>10:00</a:t>
            </a:r>
          </a:p>
        </p:txBody>
      </p:sp>
      <p:sp>
        <p:nvSpPr>
          <p:cNvPr id="5" name="Rounded Rectangle 4"/>
          <p:cNvSpPr/>
          <p:nvPr/>
        </p:nvSpPr>
        <p:spPr>
          <a:xfrm>
            <a:off x="685800" y="2051364"/>
            <a:ext cx="5181447" cy="658368"/>
          </a:xfrm>
          <a:prstGeom prst="roundRect">
            <a:avLst/>
          </a:prstGeom>
          <a:solidFill>
            <a:srgbClr val="868B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r>
              <a:rPr sz="1700" b="1">
                <a:solidFill>
                  <a:srgbClr val="FFFFFF"/>
                </a:solidFill>
                <a:latin typeface="Segoe UI"/>
              </a:rPr>
              <a:t>Bare Copilot</a:t>
            </a:r>
          </a:p>
        </p:txBody>
      </p:sp>
      <p:sp>
        <p:nvSpPr>
          <p:cNvPr id="6" name="Rounded Rectangle 5"/>
          <p:cNvSpPr/>
          <p:nvPr/>
        </p:nvSpPr>
        <p:spPr>
          <a:xfrm>
            <a:off x="685800" y="2782884"/>
            <a:ext cx="5181447" cy="2508382"/>
          </a:xfrm>
          <a:prstGeom prst="roundRect">
            <a:avLst/>
          </a:prstGeom>
          <a:solidFill>
            <a:srgbClr val="F7F9FC"/>
          </a:solidFill>
          <a:ln w="15875">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09728" bIns="109728"/>
          <a:lstStyle/>
          <a:p>
            <a:pPr algn="ctr">
              <a:spcAft>
                <a:spcPts val="800"/>
              </a:spcAft>
            </a:pPr>
            <a:r>
              <a:rPr sz="1600" b="0">
                <a:solidFill>
                  <a:srgbClr val="1A1A1A"/>
                </a:solidFill>
                <a:latin typeface="Segoe UI"/>
              </a:rPr>
              <a:t>•  Direct </a:t>
            </a:r>
            <a:r>
              <a:rPr sz="1600" b="0">
                <a:solidFill>
                  <a:srgbClr val="1A1A1A"/>
                </a:solidFill>
                <a:latin typeface="Consolas"/>
              </a:rPr>
              <a:t>SELECT</a:t>
            </a:r>
            <a:r>
              <a:rPr sz="1600" b="0">
                <a:solidFill>
                  <a:srgbClr val="1A1A1A"/>
                </a:solidFill>
                <a:latin typeface="Segoe UI"/>
              </a:rPr>
              <a:t> on standard tables</a:t>
            </a:r>
          </a:p>
          <a:p>
            <a:pPr>
              <a:spcAft>
                <a:spcPts val="800"/>
              </a:spcAft>
            </a:pPr>
            <a:r>
              <a:rPr sz="1600" b="0">
                <a:solidFill>
                  <a:srgbClr val="1A1A1A"/>
                </a:solidFill>
                <a:latin typeface="Segoe UI"/>
              </a:rPr>
              <a:t>•  Invented field names, stated confidently</a:t>
            </a:r>
          </a:p>
          <a:p>
            <a:pPr>
              <a:spcAft>
                <a:spcPts val="800"/>
              </a:spcAft>
            </a:pPr>
            <a:r>
              <a:rPr sz="1600" b="0">
                <a:solidFill>
                  <a:srgbClr val="1A1A1A"/>
                </a:solidFill>
                <a:latin typeface="Segoe UI"/>
              </a:rPr>
              <a:t>•  Classic, pre-7.4 ABAP style</a:t>
            </a:r>
          </a:p>
          <a:p>
            <a:pPr>
              <a:spcAft>
                <a:spcPts val="800"/>
              </a:spcAft>
            </a:pPr>
            <a:r>
              <a:rPr sz="1600" b="0">
                <a:solidFill>
                  <a:srgbClr val="1A1A1A"/>
                </a:solidFill>
                <a:latin typeface="Segoe UI"/>
              </a:rPr>
              <a:t>•  No layering, no metadata extension</a:t>
            </a:r>
          </a:p>
          <a:p>
            <a:pPr>
              <a:spcAft>
                <a:spcPts val="800"/>
              </a:spcAft>
            </a:pPr>
            <a:r>
              <a:rPr sz="1600" b="0">
                <a:solidFill>
                  <a:srgbClr val="1A1A1A"/>
                </a:solidFill>
                <a:latin typeface="Segoe UI"/>
              </a:rPr>
              <a:t>•  No idea what our release allows</a:t>
            </a:r>
          </a:p>
        </p:txBody>
      </p:sp>
      <p:sp>
        <p:nvSpPr>
          <p:cNvPr id="7" name="Rounded Rectangle 6"/>
          <p:cNvSpPr/>
          <p:nvPr/>
        </p:nvSpPr>
        <p:spPr>
          <a:xfrm>
            <a:off x="6324447" y="2051364"/>
            <a:ext cx="5181447" cy="658368"/>
          </a:xfrm>
          <a:prstGeom prst="roundRect">
            <a:avLst/>
          </a:prstGeom>
          <a:solidFill>
            <a:srgbClr val="0A6E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r>
              <a:rPr sz="1700" b="1">
                <a:solidFill>
                  <a:srgbClr val="FFFFFF"/>
                </a:solidFill>
                <a:latin typeface="Segoe UI"/>
              </a:rPr>
              <a:t>+ Instructions &amp; </a:t>
            </a:r>
            <a:r>
              <a:rPr sz="1700" b="1">
                <a:solidFill>
                  <a:srgbClr val="FFFFFF"/>
                </a:solidFill>
                <a:latin typeface="Consolas"/>
              </a:rPr>
              <a:t>/cds-view-scaffold</a:t>
            </a:r>
          </a:p>
        </p:txBody>
      </p:sp>
      <p:sp>
        <p:nvSpPr>
          <p:cNvPr id="8" name="Rounded Rectangle 7"/>
          <p:cNvSpPr/>
          <p:nvPr/>
        </p:nvSpPr>
        <p:spPr>
          <a:xfrm>
            <a:off x="6324447" y="2782884"/>
            <a:ext cx="5181447" cy="2508382"/>
          </a:xfrm>
          <a:prstGeom prst="roundRect">
            <a:avLst/>
          </a:prstGeom>
          <a:solidFill>
            <a:srgbClr val="F7F9FC"/>
          </a:solidFill>
          <a:ln w="15875">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09728" bIns="109728"/>
          <a:lstStyle/>
          <a:p>
            <a:pPr algn="ctr">
              <a:spcAft>
                <a:spcPts val="800"/>
              </a:spcAft>
            </a:pPr>
            <a:r>
              <a:rPr sz="1600" b="0">
                <a:solidFill>
                  <a:srgbClr val="1A1A1A"/>
                </a:solidFill>
                <a:latin typeface="Segoe UI"/>
              </a:rPr>
              <a:t>•  </a:t>
            </a:r>
            <a:r>
              <a:rPr sz="1600" b="0">
                <a:solidFill>
                  <a:srgbClr val="1A1A1A"/>
                </a:solidFill>
                <a:latin typeface="Consolas"/>
              </a:rPr>
              <a:t>ZI_</a:t>
            </a:r>
            <a:r>
              <a:rPr sz="1600" b="0">
                <a:solidFill>
                  <a:srgbClr val="1A1A1A"/>
                </a:solidFill>
                <a:latin typeface="Segoe UI"/>
              </a:rPr>
              <a:t> / </a:t>
            </a:r>
            <a:r>
              <a:rPr sz="1600" b="0">
                <a:solidFill>
                  <a:srgbClr val="1A1A1A"/>
                </a:solidFill>
                <a:latin typeface="Consolas"/>
              </a:rPr>
              <a:t>ZC_</a:t>
            </a:r>
            <a:r>
              <a:rPr sz="1600" b="0">
                <a:solidFill>
                  <a:srgbClr val="1A1A1A"/>
                </a:solidFill>
                <a:latin typeface="Segoe UI"/>
              </a:rPr>
              <a:t> layering</a:t>
            </a:r>
          </a:p>
          <a:p>
            <a:pPr>
              <a:spcAft>
                <a:spcPts val="800"/>
              </a:spcAft>
            </a:pPr>
            <a:r>
              <a:rPr sz="1600" b="0">
                <a:solidFill>
                  <a:srgbClr val="1A1A1A"/>
                </a:solidFill>
                <a:latin typeface="Segoe UI"/>
              </a:rPr>
              <a:t>•  Released CDS as the data source</a:t>
            </a:r>
          </a:p>
          <a:p>
            <a:pPr>
              <a:spcAft>
                <a:spcPts val="800"/>
              </a:spcAft>
            </a:pPr>
            <a:r>
              <a:rPr sz="1600" b="0">
                <a:solidFill>
                  <a:srgbClr val="1A1A1A"/>
                </a:solidFill>
                <a:latin typeface="Segoe UI"/>
              </a:rPr>
              <a:t>•  </a:t>
            </a:r>
            <a:r>
              <a:rPr sz="1600" b="0">
                <a:solidFill>
                  <a:srgbClr val="1A1A1A"/>
                </a:solidFill>
                <a:latin typeface="Consolas"/>
              </a:rPr>
              <a:t>@UI</a:t>
            </a:r>
            <a:r>
              <a:rPr sz="1600" b="0">
                <a:solidFill>
                  <a:srgbClr val="1A1A1A"/>
                </a:solidFill>
                <a:latin typeface="Segoe UI"/>
              </a:rPr>
              <a:t> moved to a metadata extension</a:t>
            </a:r>
          </a:p>
          <a:p>
            <a:pPr>
              <a:spcAft>
                <a:spcPts val="800"/>
              </a:spcAft>
            </a:pPr>
            <a:r>
              <a:rPr sz="1600" b="0">
                <a:solidFill>
                  <a:srgbClr val="1A1A1A"/>
                </a:solidFill>
                <a:latin typeface="Segoe UI"/>
              </a:rPr>
              <a:t>•  Our naming and package conventions</a:t>
            </a:r>
          </a:p>
          <a:p>
            <a:pPr>
              <a:spcAft>
                <a:spcPts val="800"/>
              </a:spcAft>
            </a:pPr>
            <a:r>
              <a:rPr sz="1600" b="0">
                <a:solidFill>
                  <a:srgbClr val="1A1A1A"/>
                </a:solidFill>
                <a:latin typeface="Segoe UI"/>
              </a:rPr>
              <a:t>•  </a:t>
            </a:r>
            <a:r>
              <a:rPr sz="1600" b="0">
                <a:solidFill>
                  <a:srgbClr val="1A1A1A"/>
                </a:solidFill>
                <a:latin typeface="Consolas"/>
              </a:rPr>
              <a:t>[CONFIRM in ADT]</a:t>
            </a:r>
            <a:r>
              <a:rPr sz="1600" b="0">
                <a:solidFill>
                  <a:srgbClr val="1A1A1A"/>
                </a:solidFill>
                <a:latin typeface="Segoe UI"/>
              </a:rPr>
              <a:t> where it doesn't know</a:t>
            </a:r>
          </a:p>
        </p:txBody>
      </p:sp>
      <p:sp>
        <p:nvSpPr>
          <p:cNvPr id="9" name="TextBox 8"/>
          <p:cNvSpPr txBox="1"/>
          <p:nvPr/>
        </p:nvSpPr>
        <p:spPr>
          <a:xfrm>
            <a:off x="685800" y="5852160"/>
            <a:ext cx="10817352" cy="411480"/>
          </a:xfrm>
          <a:prstGeom prst="rect">
            <a:avLst/>
          </a:prstGeom>
          <a:noFill/>
        </p:spPr>
        <p:txBody>
          <a:bodyPr wrap="square">
            <a:spAutoFit/>
          </a:bodyPr>
          <a:lstStyle/>
          <a:p>
            <a:pPr algn="ctr"/>
            <a:r>
              <a:rPr sz="1600" b="1">
                <a:solidFill>
                  <a:srgbClr val="054A8F"/>
                </a:solidFill>
                <a:latin typeface="Segoe UI"/>
              </a:rPr>
              <a:t>Same model. Same question. We gave it our standards.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84048"/>
            <a:ext cx="9326880" cy="868680"/>
          </a:xfrm>
          <a:prstGeom prst="rect">
            <a:avLst/>
          </a:prstGeom>
          <a:noFill/>
        </p:spPr>
        <p:txBody>
          <a:bodyPr wrap="square" anchor="t">
            <a:spAutoFit/>
          </a:bodyPr>
          <a:lstStyle/>
          <a:p>
            <a:r>
              <a:rPr sz="2900" b="1">
                <a:solidFill>
                  <a:srgbClr val="1A1A1A"/>
                </a:solidFill>
                <a:latin typeface="Segoe UI"/>
              </a:rPr>
              <a:t>DEMO 2 — Grounding: Guessing vs Reading</a:t>
            </a:r>
          </a:p>
        </p:txBody>
      </p:sp>
      <p:sp>
        <p:nvSpPr>
          <p:cNvPr id="3" name="Rectangle 2"/>
          <p:cNvSpPr/>
          <p:nvPr/>
        </p:nvSpPr>
        <p:spPr>
          <a:xfrm>
            <a:off x="685800" y="1316736"/>
            <a:ext cx="1051560" cy="50292"/>
          </a:xfrm>
          <a:prstGeom prst="rect">
            <a:avLst/>
          </a:prstGeom>
          <a:solidFill>
            <a:srgbClr val="0A6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378440" y="457200"/>
            <a:ext cx="1188720" cy="365760"/>
          </a:xfrm>
          <a:prstGeom prst="rect">
            <a:avLst/>
          </a:prstGeom>
          <a:noFill/>
        </p:spPr>
        <p:txBody>
          <a:bodyPr wrap="square">
            <a:spAutoFit/>
          </a:bodyPr>
          <a:lstStyle/>
          <a:p>
            <a:pPr algn="r"/>
            <a:r>
              <a:rPr sz="1200" b="1">
                <a:solidFill>
                  <a:srgbClr val="0A6ED1"/>
                </a:solidFill>
                <a:latin typeface="Segoe UI"/>
              </a:rPr>
              <a:t>10:00</a:t>
            </a:r>
          </a:p>
        </p:txBody>
      </p:sp>
      <p:sp>
        <p:nvSpPr>
          <p:cNvPr id="5" name="Rounded Rectangle 4"/>
          <p:cNvSpPr/>
          <p:nvPr/>
        </p:nvSpPr>
        <p:spPr>
          <a:xfrm>
            <a:off x="685800" y="2051364"/>
            <a:ext cx="5181447" cy="658368"/>
          </a:xfrm>
          <a:prstGeom prst="roundRect">
            <a:avLst/>
          </a:prstGeom>
          <a:solidFill>
            <a:srgbClr val="868B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r>
              <a:rPr sz="1700" b="1">
                <a:solidFill>
                  <a:srgbClr val="FFFFFF"/>
                </a:solidFill>
                <a:latin typeface="Segoe UI"/>
              </a:rPr>
              <a:t>Without MCP</a:t>
            </a:r>
          </a:p>
        </p:txBody>
      </p:sp>
      <p:sp>
        <p:nvSpPr>
          <p:cNvPr id="6" name="Rounded Rectangle 5"/>
          <p:cNvSpPr/>
          <p:nvPr/>
        </p:nvSpPr>
        <p:spPr>
          <a:xfrm>
            <a:off x="685800" y="2782884"/>
            <a:ext cx="5181447" cy="2508382"/>
          </a:xfrm>
          <a:prstGeom prst="roundRect">
            <a:avLst/>
          </a:prstGeom>
          <a:solidFill>
            <a:srgbClr val="F7F9FC"/>
          </a:solidFill>
          <a:ln w="15875">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09728" bIns="109728"/>
          <a:lstStyle/>
          <a:p>
            <a:pPr algn="ctr">
              <a:spcAft>
                <a:spcPts val="800"/>
              </a:spcAft>
            </a:pPr>
            <a:r>
              <a:rPr sz="1600" b="0">
                <a:solidFill>
                  <a:srgbClr val="1A1A1A"/>
                </a:solidFill>
                <a:latin typeface="Segoe UI"/>
              </a:rPr>
              <a:t>•  A plausible field list — that nobody can verify</a:t>
            </a:r>
          </a:p>
          <a:p>
            <a:pPr>
              <a:spcAft>
                <a:spcPts val="800"/>
              </a:spcAft>
            </a:pPr>
            <a:r>
              <a:rPr sz="1600" b="0">
                <a:solidFill>
                  <a:srgbClr val="1A1A1A"/>
                </a:solidFill>
                <a:latin typeface="Segoe UI"/>
              </a:rPr>
              <a:t>•  "Yes, that's released" — on what basis?</a:t>
            </a:r>
          </a:p>
          <a:p>
            <a:pPr>
              <a:spcAft>
                <a:spcPts val="800"/>
              </a:spcAft>
            </a:pPr>
            <a:r>
              <a:rPr sz="1600" b="0">
                <a:solidFill>
                  <a:srgbClr val="1A1A1A"/>
                </a:solidFill>
                <a:latin typeface="Segoe UI"/>
              </a:rPr>
              <a:t>•  Confident tone, no source</a:t>
            </a:r>
          </a:p>
          <a:p>
            <a:pPr>
              <a:spcAft>
                <a:spcPts val="800"/>
              </a:spcAft>
            </a:pPr>
            <a:r>
              <a:rPr sz="1600" b="0">
                <a:solidFill>
                  <a:srgbClr val="1A1A1A"/>
                </a:solidFill>
                <a:latin typeface="Segoe UI"/>
              </a:rPr>
              <a:t>•  You cannot tell right from wrong by reading it</a:t>
            </a:r>
          </a:p>
        </p:txBody>
      </p:sp>
      <p:sp>
        <p:nvSpPr>
          <p:cNvPr id="7" name="Rounded Rectangle 6"/>
          <p:cNvSpPr/>
          <p:nvPr/>
        </p:nvSpPr>
        <p:spPr>
          <a:xfrm>
            <a:off x="6324447" y="2051364"/>
            <a:ext cx="5181447" cy="658368"/>
          </a:xfrm>
          <a:prstGeom prst="roundRect">
            <a:avLst/>
          </a:prstGeom>
          <a:solidFill>
            <a:srgbClr val="0A6E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r>
              <a:rPr sz="1700" b="1">
                <a:solidFill>
                  <a:srgbClr val="FFFFFF"/>
                </a:solidFill>
                <a:latin typeface="Segoe UI"/>
              </a:rPr>
              <a:t>With MCP connected</a:t>
            </a:r>
          </a:p>
        </p:txBody>
      </p:sp>
      <p:sp>
        <p:nvSpPr>
          <p:cNvPr id="8" name="Rounded Rectangle 7"/>
          <p:cNvSpPr/>
          <p:nvPr/>
        </p:nvSpPr>
        <p:spPr>
          <a:xfrm>
            <a:off x="6324447" y="2782884"/>
            <a:ext cx="5181447" cy="2508382"/>
          </a:xfrm>
          <a:prstGeom prst="roundRect">
            <a:avLst/>
          </a:prstGeom>
          <a:solidFill>
            <a:srgbClr val="F7F9FC"/>
          </a:solidFill>
          <a:ln w="15875">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09728" bIns="109728"/>
          <a:lstStyle/>
          <a:p>
            <a:pPr algn="ctr">
              <a:spcAft>
                <a:spcPts val="800"/>
              </a:spcAft>
            </a:pPr>
            <a:r>
              <a:rPr sz="1600" b="0">
                <a:solidFill>
                  <a:srgbClr val="1A1A1A"/>
                </a:solidFill>
                <a:latin typeface="Segoe UI"/>
              </a:rPr>
              <a:t>•  The real field list, read from the system</a:t>
            </a:r>
          </a:p>
          <a:p>
            <a:pPr>
              <a:spcAft>
                <a:spcPts val="800"/>
              </a:spcAft>
            </a:pPr>
            <a:r>
              <a:rPr sz="1600" b="0">
                <a:solidFill>
                  <a:srgbClr val="1A1A1A"/>
                </a:solidFill>
                <a:latin typeface="Segoe UI"/>
              </a:rPr>
              <a:t>•  The actual API release state</a:t>
            </a:r>
          </a:p>
          <a:p>
            <a:pPr>
              <a:spcAft>
                <a:spcPts val="800"/>
              </a:spcAft>
            </a:pPr>
            <a:r>
              <a:rPr sz="1600" b="0">
                <a:solidFill>
                  <a:srgbClr val="1A1A1A"/>
                </a:solidFill>
                <a:latin typeface="Segoe UI"/>
              </a:rPr>
              <a:t>•  Visible tool calls — you see it reach in</a:t>
            </a:r>
          </a:p>
          <a:p>
            <a:pPr>
              <a:spcAft>
                <a:spcPts val="800"/>
              </a:spcAft>
            </a:pPr>
            <a:r>
              <a:rPr sz="1600" b="0">
                <a:solidFill>
                  <a:srgbClr val="1A1A1A"/>
                </a:solidFill>
                <a:latin typeface="Segoe UI"/>
              </a:rPr>
              <a:t>•  Multi-step: read object → syntax check → report</a:t>
            </a:r>
          </a:p>
        </p:txBody>
      </p:sp>
      <p:sp>
        <p:nvSpPr>
          <p:cNvPr id="9" name="TextBox 8"/>
          <p:cNvSpPr txBox="1"/>
          <p:nvPr/>
        </p:nvSpPr>
        <p:spPr>
          <a:xfrm>
            <a:off x="685800" y="5852160"/>
            <a:ext cx="10817352" cy="411480"/>
          </a:xfrm>
          <a:prstGeom prst="rect">
            <a:avLst/>
          </a:prstGeom>
          <a:noFill/>
        </p:spPr>
        <p:txBody>
          <a:bodyPr wrap="square">
            <a:spAutoFit/>
          </a:bodyPr>
          <a:lstStyle/>
          <a:p>
            <a:pPr algn="ctr"/>
            <a:r>
              <a:rPr sz="1600" b="1">
                <a:solidFill>
                  <a:srgbClr val="054A8F"/>
                </a:solidFill>
                <a:latin typeface="Segoe UI"/>
              </a:rPr>
              <a:t>Level 2 stops it inventing our standards. Level 3 stops it inventing our system.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84048"/>
            <a:ext cx="9326880" cy="868680"/>
          </a:xfrm>
          <a:prstGeom prst="rect">
            <a:avLst/>
          </a:prstGeom>
          <a:noFill/>
        </p:spPr>
        <p:txBody>
          <a:bodyPr wrap="square" anchor="t">
            <a:spAutoFit/>
          </a:bodyPr>
          <a:lstStyle/>
          <a:p>
            <a:r>
              <a:rPr sz="2900" b="1">
                <a:solidFill>
                  <a:srgbClr val="1A1A1A"/>
                </a:solidFill>
                <a:latin typeface="Segoe UI"/>
              </a:rPr>
              <a:t>DEMO 3 — The Guardrail</a:t>
            </a:r>
          </a:p>
        </p:txBody>
      </p:sp>
      <p:sp>
        <p:nvSpPr>
          <p:cNvPr id="3" name="Rectangle 2"/>
          <p:cNvSpPr/>
          <p:nvPr/>
        </p:nvSpPr>
        <p:spPr>
          <a:xfrm>
            <a:off x="685800" y="1316736"/>
            <a:ext cx="1051560" cy="50292"/>
          </a:xfrm>
          <a:prstGeom prst="rect">
            <a:avLst/>
          </a:prstGeom>
          <a:solidFill>
            <a:srgbClr val="0A6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378440" y="457200"/>
            <a:ext cx="1188720" cy="365760"/>
          </a:xfrm>
          <a:prstGeom prst="rect">
            <a:avLst/>
          </a:prstGeom>
          <a:noFill/>
        </p:spPr>
        <p:txBody>
          <a:bodyPr wrap="square">
            <a:spAutoFit/>
          </a:bodyPr>
          <a:lstStyle/>
          <a:p>
            <a:pPr algn="r"/>
            <a:r>
              <a:rPr sz="1200" b="1">
                <a:solidFill>
                  <a:srgbClr val="0A6ED1"/>
                </a:solidFill>
                <a:latin typeface="Segoe UI"/>
              </a:rPr>
              <a:t>5:00</a:t>
            </a:r>
          </a:p>
        </p:txBody>
      </p:sp>
      <p:sp>
        <p:nvSpPr>
          <p:cNvPr id="5" name="TextBox 4"/>
          <p:cNvSpPr txBox="1"/>
          <p:nvPr/>
        </p:nvSpPr>
        <p:spPr>
          <a:xfrm>
            <a:off x="685800" y="1600200"/>
            <a:ext cx="10817352" cy="4709160"/>
          </a:xfrm>
          <a:prstGeom prst="rect">
            <a:avLst/>
          </a:prstGeom>
          <a:noFill/>
        </p:spPr>
        <p:txBody>
          <a:bodyPr wrap="square">
            <a:spAutoFit/>
          </a:bodyPr>
          <a:lstStyle/>
          <a:p>
            <a:pPr>
              <a:spcAft>
                <a:spcPts val="1100"/>
              </a:spcAft>
            </a:pPr>
            <a:r>
              <a:rPr sz="1900" b="0">
                <a:solidFill>
                  <a:srgbClr val="1A1A1A"/>
                </a:solidFill>
                <a:latin typeface="Segoe UI"/>
              </a:rPr>
              <a:t>•  Ask for something that would consume a </a:t>
            </a:r>
            <a:r>
              <a:rPr sz="1900" b="1">
                <a:solidFill>
                  <a:srgbClr val="1A1A1A"/>
                </a:solidFill>
                <a:latin typeface="Segoe UI"/>
              </a:rPr>
              <a:t>non-released</a:t>
            </a:r>
            <a:r>
              <a:rPr sz="1900" b="0">
                <a:solidFill>
                  <a:srgbClr val="1A1A1A"/>
                </a:solidFill>
                <a:latin typeface="Segoe UI"/>
              </a:rPr>
              <a:t> object</a:t>
            </a:r>
          </a:p>
          <a:p>
            <a:pPr>
              <a:spcAft>
                <a:spcPts val="1100"/>
              </a:spcAft>
            </a:pPr>
            <a:r>
              <a:rPr sz="1900" b="0">
                <a:solidFill>
                  <a:srgbClr val="1A1A1A"/>
                </a:solidFill>
                <a:latin typeface="Segoe UI"/>
              </a:rPr>
              <a:t>•  Look at the result — it looks fine. It compiles. Private Edition will accept it.</a:t>
            </a:r>
          </a:p>
          <a:p>
            <a:pPr>
              <a:spcAft>
                <a:spcPts val="1100"/>
              </a:spcAft>
            </a:pPr>
            <a:r>
              <a:rPr sz="1900" b="0">
                <a:solidFill>
                  <a:srgbClr val="1A1A1A"/>
                </a:solidFill>
                <a:latin typeface="Segoe UI"/>
              </a:rPr>
              <a:t>•  Run </a:t>
            </a:r>
            <a:r>
              <a:rPr sz="1900" b="0">
                <a:solidFill>
                  <a:srgbClr val="1A1A1A"/>
                </a:solidFill>
                <a:latin typeface="Consolas"/>
              </a:rPr>
              <a:t>/clean-abap-review</a:t>
            </a:r>
            <a:r>
              <a:rPr sz="1900" b="0">
                <a:solidFill>
                  <a:srgbClr val="1A1A1A"/>
                </a:solidFill>
                <a:latin typeface="Segoe UI"/>
              </a:rPr>
              <a:t> on it → flagged 🔴</a:t>
            </a:r>
          </a:p>
          <a:p>
            <a:pPr>
              <a:spcAft>
                <a:spcPts val="1100"/>
              </a:spcAft>
            </a:pPr>
            <a:r>
              <a:rPr sz="1900" b="0">
                <a:solidFill>
                  <a:srgbClr val="1A1A1A"/>
                </a:solidFill>
                <a:latin typeface="Segoe UI"/>
              </a:rPr>
              <a:t>•  </a:t>
            </a:r>
            <a:r>
              <a:rPr sz="1900" b="1">
                <a:solidFill>
                  <a:srgbClr val="1A1A1A"/>
                </a:solidFill>
                <a:latin typeface="Segoe UI"/>
              </a:rPr>
              <a:t>The tooling helps. The contract does not move.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84048"/>
            <a:ext cx="9326880" cy="868680"/>
          </a:xfrm>
          <a:prstGeom prst="rect">
            <a:avLst/>
          </a:prstGeom>
          <a:noFill/>
        </p:spPr>
        <p:txBody>
          <a:bodyPr wrap="square" anchor="t">
            <a:spAutoFit/>
          </a:bodyPr>
          <a:lstStyle/>
          <a:p>
            <a:r>
              <a:rPr sz="2900" b="1">
                <a:solidFill>
                  <a:srgbClr val="1A1A1A"/>
                </a:solidFill>
                <a:latin typeface="Segoe UI"/>
              </a:rPr>
              <a:t>Where It Gets ABAP Wrong</a:t>
            </a:r>
          </a:p>
        </p:txBody>
      </p:sp>
      <p:sp>
        <p:nvSpPr>
          <p:cNvPr id="3" name="Rectangle 2"/>
          <p:cNvSpPr/>
          <p:nvPr/>
        </p:nvSpPr>
        <p:spPr>
          <a:xfrm>
            <a:off x="685800" y="1316736"/>
            <a:ext cx="1051560" cy="50292"/>
          </a:xfrm>
          <a:prstGeom prst="rect">
            <a:avLst/>
          </a:prstGeom>
          <a:solidFill>
            <a:srgbClr val="0A6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378440" y="457200"/>
            <a:ext cx="1188720" cy="365760"/>
          </a:xfrm>
          <a:prstGeom prst="rect">
            <a:avLst/>
          </a:prstGeom>
          <a:noFill/>
        </p:spPr>
        <p:txBody>
          <a:bodyPr wrap="square">
            <a:spAutoFit/>
          </a:bodyPr>
          <a:lstStyle/>
          <a:p>
            <a:pPr algn="r"/>
            <a:r>
              <a:rPr sz="1200" b="1">
                <a:solidFill>
                  <a:srgbClr val="0A6ED1"/>
                </a:solidFill>
                <a:latin typeface="Segoe UI"/>
              </a:rPr>
              <a:t>8:00</a:t>
            </a:r>
          </a:p>
        </p:txBody>
      </p:sp>
      <p:sp>
        <p:nvSpPr>
          <p:cNvPr id="5" name="TextBox 4"/>
          <p:cNvSpPr txBox="1"/>
          <p:nvPr/>
        </p:nvSpPr>
        <p:spPr>
          <a:xfrm>
            <a:off x="685800" y="1600200"/>
            <a:ext cx="10817352" cy="4709160"/>
          </a:xfrm>
          <a:prstGeom prst="rect">
            <a:avLst/>
          </a:prstGeom>
          <a:noFill/>
        </p:spPr>
        <p:txBody>
          <a:bodyPr wrap="square">
            <a:spAutoFit/>
          </a:bodyPr>
          <a:lstStyle/>
          <a:p>
            <a:pPr>
              <a:spcAft>
                <a:spcPts val="1100"/>
              </a:spcAft>
            </a:pPr>
            <a:r>
              <a:rPr sz="1900" b="0">
                <a:solidFill>
                  <a:srgbClr val="1A1A1A"/>
                </a:solidFill>
                <a:latin typeface="Segoe UI"/>
              </a:rPr>
              <a:t>•  </a:t>
            </a:r>
            <a:r>
              <a:rPr sz="1900" b="1">
                <a:solidFill>
                  <a:srgbClr val="1A1A1A"/>
                </a:solidFill>
                <a:latin typeface="Segoe UI"/>
              </a:rPr>
              <a:t>Invents SAP names that look right</a:t>
            </a:r>
            <a:r>
              <a:rPr sz="1900" b="0">
                <a:solidFill>
                  <a:srgbClr val="1A1A1A"/>
                </a:solidFill>
                <a:latin typeface="Segoe UI"/>
              </a:rPr>
              <a:t> — table, field, BAPI. Survives review by anyone who doesn't know the object.</a:t>
            </a:r>
          </a:p>
          <a:p>
            <a:pPr>
              <a:spcAft>
                <a:spcPts val="1100"/>
              </a:spcAft>
            </a:pPr>
            <a:r>
              <a:rPr sz="1900" b="0">
                <a:solidFill>
                  <a:srgbClr val="1A1A1A"/>
                </a:solidFill>
                <a:latin typeface="Segoe UI"/>
              </a:rPr>
              <a:t>•  </a:t>
            </a:r>
            <a:r>
              <a:rPr sz="1900" b="1">
                <a:solidFill>
                  <a:srgbClr val="1A1A1A"/>
                </a:solidFill>
                <a:latin typeface="Segoe UI"/>
              </a:rPr>
              <a:t>Defaults to classic ABAP</a:t>
            </a:r>
            <a:r>
              <a:rPr sz="1900" b="0">
                <a:solidFill>
                  <a:srgbClr val="1A1A1A"/>
                </a:solidFill>
                <a:latin typeface="Segoe UI"/>
              </a:rPr>
              <a:t> — </a:t>
            </a:r>
            <a:r>
              <a:rPr sz="1900" b="0">
                <a:solidFill>
                  <a:srgbClr val="1A1A1A"/>
                </a:solidFill>
                <a:latin typeface="Consolas"/>
              </a:rPr>
              <a:t>SELECT</a:t>
            </a:r>
            <a:r>
              <a:rPr sz="1900" b="0">
                <a:solidFill>
                  <a:srgbClr val="1A1A1A"/>
                </a:solidFill>
                <a:latin typeface="Segoe UI"/>
              </a:rPr>
              <a:t> straight off </a:t>
            </a:r>
            <a:r>
              <a:rPr sz="1900" b="0">
                <a:solidFill>
                  <a:srgbClr val="1A1A1A"/>
                </a:solidFill>
                <a:latin typeface="Consolas"/>
              </a:rPr>
              <a:t>VBAK</a:t>
            </a:r>
            <a:r>
              <a:rPr sz="1900" b="0">
                <a:solidFill>
                  <a:srgbClr val="1A1A1A"/>
                </a:solidFill>
                <a:latin typeface="Segoe UI"/>
              </a:rPr>
              <a:t>, pre-7.4 syntax, dynpro-era thinking</a:t>
            </a:r>
          </a:p>
          <a:p>
            <a:pPr>
              <a:spcAft>
                <a:spcPts val="1100"/>
              </a:spcAft>
            </a:pPr>
            <a:r>
              <a:rPr sz="1900" b="0">
                <a:solidFill>
                  <a:srgbClr val="1A1A1A"/>
                </a:solidFill>
                <a:latin typeface="Segoe UI"/>
              </a:rPr>
              <a:t>•  </a:t>
            </a:r>
            <a:r>
              <a:rPr sz="1900" b="1">
                <a:solidFill>
                  <a:srgbClr val="1A1A1A"/>
                </a:solidFill>
                <a:latin typeface="Segoe UI"/>
              </a:rPr>
              <a:t>No idea what's released in our system</a:t>
            </a:r>
            <a:r>
              <a:rPr sz="1900" b="0">
                <a:solidFill>
                  <a:srgbClr val="1A1A1A"/>
                </a:solidFill>
                <a:latin typeface="Segoe UI"/>
              </a:rPr>
              <a:t> — and Private Edition will happily compile the mistake</a:t>
            </a:r>
          </a:p>
          <a:p>
            <a:pPr>
              <a:spcAft>
                <a:spcPts val="1100"/>
              </a:spcAft>
            </a:pPr>
            <a:r>
              <a:rPr sz="1900" b="0">
                <a:solidFill>
                  <a:srgbClr val="1A1A1A"/>
                </a:solidFill>
                <a:latin typeface="Segoe UI"/>
              </a:rPr>
              <a:t>•  </a:t>
            </a:r>
            <a:r>
              <a:rPr sz="1900" b="1">
                <a:solidFill>
                  <a:srgbClr val="1A1A1A"/>
                </a:solidFill>
                <a:latin typeface="Segoe UI"/>
              </a:rPr>
              <a:t>Confidently wrong on RAP save-sequence rules</a:t>
            </a:r>
            <a:r>
              <a:rPr sz="1900" b="0">
                <a:solidFill>
                  <a:srgbClr val="1A1A1A"/>
                </a:solidFill>
                <a:latin typeface="Segoe UI"/>
              </a:rPr>
              <a:t> — side effects in the wrong handler, </a:t>
            </a:r>
            <a:r>
              <a:rPr sz="1900" b="0">
                <a:solidFill>
                  <a:srgbClr val="1A1A1A"/>
                </a:solidFill>
                <a:latin typeface="Consolas"/>
              </a:rPr>
              <a:t>REPORTED</a:t>
            </a:r>
            <a:r>
              <a:rPr sz="1900" b="0">
                <a:solidFill>
                  <a:srgbClr val="1A1A1A"/>
                </a:solidFill>
                <a:latin typeface="Segoe UI"/>
              </a:rPr>
              <a:t> without </a:t>
            </a:r>
            <a:r>
              <a:rPr sz="1900" b="0">
                <a:solidFill>
                  <a:srgbClr val="1A1A1A"/>
                </a:solidFill>
                <a:latin typeface="Consolas"/>
              </a:rPr>
              <a:t>FAILED</a:t>
            </a:r>
          </a:p>
          <a:p>
            <a:pPr>
              <a:spcAft>
                <a:spcPts val="1100"/>
              </a:spcAft>
            </a:pPr>
            <a:r>
              <a:rPr sz="1900" b="0">
                <a:solidFill>
                  <a:srgbClr val="1A1A1A"/>
                </a:solidFill>
                <a:latin typeface="Segoe UI"/>
              </a:rPr>
              <a:t>•  </a:t>
            </a:r>
            <a:r>
              <a:rPr sz="1900" b="1">
                <a:solidFill>
                  <a:srgbClr val="1A1A1A"/>
                </a:solidFill>
                <a:latin typeface="Segoe UI"/>
              </a:rPr>
              <a:t>Writes tests that assert the implementation, not the rule</a:t>
            </a:r>
            <a:r>
              <a:rPr sz="1900" b="0">
                <a:solidFill>
                  <a:srgbClr val="1A1A1A"/>
                </a:solidFill>
                <a:latin typeface="Segoe UI"/>
              </a:rPr>
              <a:t> — they pass, and prove nothing</a:t>
            </a:r>
          </a:p>
          <a:p>
            <a:pPr>
              <a:spcAft>
                <a:spcPts val="1100"/>
              </a:spcAft>
            </a:pPr>
            <a:r>
              <a:rPr sz="1900" b="0">
                <a:solidFill>
                  <a:srgbClr val="1A1A1A"/>
                </a:solidFill>
                <a:latin typeface="Segoe UI"/>
              </a:rPr>
              <a:t>•  </a:t>
            </a:r>
            <a:r>
              <a:rPr sz="1900" b="1">
                <a:solidFill>
                  <a:srgbClr val="1A1A1A"/>
                </a:solidFill>
                <a:latin typeface="Segoe UI"/>
              </a:rPr>
              <a:t>Knows nothing of our naming, packages or transports</a:t>
            </a:r>
            <a:r>
              <a:rPr sz="1900" b="0">
                <a:solidFill>
                  <a:srgbClr val="1A1A1A"/>
                </a:solidFill>
                <a:latin typeface="Segoe UI"/>
              </a:rPr>
              <a:t> unless we tell it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84048"/>
            <a:ext cx="9326880" cy="868680"/>
          </a:xfrm>
          <a:prstGeom prst="rect">
            <a:avLst/>
          </a:prstGeom>
          <a:noFill/>
        </p:spPr>
        <p:txBody>
          <a:bodyPr wrap="square" anchor="t">
            <a:spAutoFit/>
          </a:bodyPr>
          <a:lstStyle/>
          <a:p>
            <a:r>
              <a:rPr sz="2900" b="1">
                <a:solidFill>
                  <a:srgbClr val="1A1A1A"/>
                </a:solidFill>
                <a:latin typeface="Segoe UI"/>
              </a:rPr>
              <a:t>The Two Rules That Don't Change</a:t>
            </a:r>
          </a:p>
        </p:txBody>
      </p:sp>
      <p:sp>
        <p:nvSpPr>
          <p:cNvPr id="3" name="Rectangle 2"/>
          <p:cNvSpPr/>
          <p:nvPr/>
        </p:nvSpPr>
        <p:spPr>
          <a:xfrm>
            <a:off x="685800" y="1316736"/>
            <a:ext cx="1051560" cy="50292"/>
          </a:xfrm>
          <a:prstGeom prst="rect">
            <a:avLst/>
          </a:prstGeom>
          <a:solidFill>
            <a:srgbClr val="0A6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378440" y="457200"/>
            <a:ext cx="1188720" cy="365760"/>
          </a:xfrm>
          <a:prstGeom prst="rect">
            <a:avLst/>
          </a:prstGeom>
          <a:noFill/>
        </p:spPr>
        <p:txBody>
          <a:bodyPr wrap="square">
            <a:spAutoFit/>
          </a:bodyPr>
          <a:lstStyle/>
          <a:p>
            <a:pPr algn="r"/>
            <a:r>
              <a:rPr sz="1200" b="1">
                <a:solidFill>
                  <a:srgbClr val="0A6ED1"/>
                </a:solidFill>
                <a:latin typeface="Segoe UI"/>
              </a:rPr>
              <a:t>2:00</a:t>
            </a:r>
          </a:p>
        </p:txBody>
      </p:sp>
      <p:sp>
        <p:nvSpPr>
          <p:cNvPr id="5" name="TextBox 4"/>
          <p:cNvSpPr txBox="1"/>
          <p:nvPr/>
        </p:nvSpPr>
        <p:spPr>
          <a:xfrm>
            <a:off x="685800" y="1600200"/>
            <a:ext cx="10817352" cy="4709160"/>
          </a:xfrm>
          <a:prstGeom prst="rect">
            <a:avLst/>
          </a:prstGeom>
          <a:noFill/>
        </p:spPr>
        <p:txBody>
          <a:bodyPr wrap="square">
            <a:spAutoFit/>
          </a:bodyPr>
          <a:lstStyle/>
          <a:p>
            <a:pPr>
              <a:spcAft>
                <a:spcPts val="1100"/>
              </a:spcAft>
            </a:pPr>
            <a:r>
              <a:rPr sz="1900" b="0">
                <a:solidFill>
                  <a:srgbClr val="1A1A1A"/>
                </a:solidFill>
                <a:latin typeface="Segoe UI"/>
              </a:rPr>
              <a:t>•  </a:t>
            </a:r>
            <a:r>
              <a:rPr sz="1900" b="1">
                <a:solidFill>
                  <a:srgbClr val="1A1A1A"/>
                </a:solidFill>
                <a:latin typeface="Segoe UI"/>
              </a:rPr>
              <a:t>1. AI authorship is not compliance.</a:t>
            </a:r>
            <a:r>
              <a:rPr sz="1900" b="0">
                <a:solidFill>
                  <a:srgbClr val="1A1A1A"/>
                </a:solidFill>
                <a:latin typeface="Segoe UI"/>
              </a:rPr>
              <a:t> A generated </a:t>
            </a:r>
            <a:r>
              <a:rPr sz="1900" b="0">
                <a:solidFill>
                  <a:srgbClr val="1A1A1A"/>
                </a:solidFill>
                <a:latin typeface="Consolas"/>
              </a:rPr>
              <a:t>SELECT</a:t>
            </a:r>
            <a:r>
              <a:rPr sz="1900" b="0">
                <a:solidFill>
                  <a:srgbClr val="1A1A1A"/>
                </a:solidFill>
                <a:latin typeface="Segoe UI"/>
              </a:rPr>
              <a:t> on a non-released table is still a Clean Core violation. The released-API rules apply to every line regardless of who wrote it.</a:t>
            </a:r>
          </a:p>
          <a:p>
            <a:pPr>
              <a:spcAft>
                <a:spcPts val="1100"/>
              </a:spcAft>
            </a:pPr>
            <a:r>
              <a:rPr sz="1900" b="0">
                <a:solidFill>
                  <a:srgbClr val="1A1A1A"/>
                </a:solidFill>
                <a:latin typeface="Segoe UI"/>
              </a:rPr>
              <a:t>•  </a:t>
            </a:r>
            <a:r>
              <a:rPr sz="1900" b="1">
                <a:solidFill>
                  <a:srgbClr val="1A1A1A"/>
                </a:solidFill>
                <a:latin typeface="Segoe UI"/>
              </a:rPr>
              <a:t>2. Generated code is reviewed exactly like hand-written code.</a:t>
            </a:r>
            <a:r>
              <a:rPr sz="1900" b="0">
                <a:solidFill>
                  <a:srgbClr val="1A1A1A"/>
                </a:solidFill>
                <a:latin typeface="Segoe UI"/>
              </a:rPr>
              <a:t> Same checklist, same severities — and </a:t>
            </a:r>
            <a:r>
              <a:rPr sz="1900" b="1">
                <a:solidFill>
                  <a:srgbClr val="1A1A1A"/>
                </a:solidFill>
                <a:latin typeface="Segoe UI"/>
              </a:rPr>
              <a:t>the author owns it</a:t>
            </a:r>
            <a:r>
              <a:rPr sz="1900" b="0">
                <a:solidFill>
                  <a:srgbClr val="1A1A1A"/>
                </a:solidFill>
                <a:latin typeface="Segoe UI"/>
              </a:rPr>
              <a:t>. "Copilot wrote it" is not a defence in review.</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84048"/>
            <a:ext cx="9326880" cy="868680"/>
          </a:xfrm>
          <a:prstGeom prst="rect">
            <a:avLst/>
          </a:prstGeom>
          <a:noFill/>
        </p:spPr>
        <p:txBody>
          <a:bodyPr wrap="square" anchor="t">
            <a:spAutoFit/>
          </a:bodyPr>
          <a:lstStyle/>
          <a:p>
            <a:r>
              <a:rPr sz="2900" b="1">
                <a:solidFill>
                  <a:srgbClr val="1A1A1A"/>
                </a:solidFill>
                <a:latin typeface="Segoe UI"/>
              </a:rPr>
              <a:t>What to Do on Monday</a:t>
            </a:r>
          </a:p>
        </p:txBody>
      </p:sp>
      <p:sp>
        <p:nvSpPr>
          <p:cNvPr id="3" name="Rectangle 2"/>
          <p:cNvSpPr/>
          <p:nvPr/>
        </p:nvSpPr>
        <p:spPr>
          <a:xfrm>
            <a:off x="685800" y="1316736"/>
            <a:ext cx="1051560" cy="50292"/>
          </a:xfrm>
          <a:prstGeom prst="rect">
            <a:avLst/>
          </a:prstGeom>
          <a:solidFill>
            <a:srgbClr val="0A6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378440" y="457200"/>
            <a:ext cx="1188720" cy="365760"/>
          </a:xfrm>
          <a:prstGeom prst="rect">
            <a:avLst/>
          </a:prstGeom>
          <a:noFill/>
        </p:spPr>
        <p:txBody>
          <a:bodyPr wrap="square">
            <a:spAutoFit/>
          </a:bodyPr>
          <a:lstStyle/>
          <a:p>
            <a:pPr algn="r"/>
            <a:r>
              <a:rPr sz="1200" b="1">
                <a:solidFill>
                  <a:srgbClr val="0A6ED1"/>
                </a:solidFill>
                <a:latin typeface="Segoe UI"/>
              </a:rPr>
              <a:t>3:00</a:t>
            </a:r>
          </a:p>
        </p:txBody>
      </p:sp>
      <p:sp>
        <p:nvSpPr>
          <p:cNvPr id="5" name="Rounded Rectangle 4"/>
          <p:cNvSpPr/>
          <p:nvPr/>
        </p:nvSpPr>
        <p:spPr>
          <a:xfrm>
            <a:off x="685800" y="2304379"/>
            <a:ext cx="1871411" cy="2733873"/>
          </a:xfrm>
          <a:prstGeom prst="roundRect">
            <a:avLst/>
          </a:prstGeom>
          <a:solidFill>
            <a:srgbClr val="E8F1FB"/>
          </a:solidFill>
          <a:ln w="15875">
            <a:solidFill>
              <a:srgbClr val="0A6ED1"/>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r>
              <a:rPr sz="1600" b="1">
                <a:solidFill>
                  <a:srgbClr val="054A8F"/>
                </a:solidFill>
                <a:latin typeface="Segoe UI"/>
              </a:rPr>
              <a:t>1. Copy</a:t>
            </a:r>
          </a:p>
          <a:p>
            <a:pPr algn="ctr">
              <a:spcBef>
                <a:spcPts val="400"/>
              </a:spcBef>
            </a:pPr>
            <a:r>
              <a:rPr sz="1250" b="0">
                <a:solidFill>
                  <a:srgbClr val="1A1A1A"/>
                </a:solidFill>
                <a:latin typeface="Consolas"/>
              </a:rPr>
              <a:t>.github/copilot-instructions.md</a:t>
            </a:r>
            <a:r>
              <a:rPr sz="1250" b="0">
                <a:solidFill>
                  <a:srgbClr val="1A1A1A"/>
                </a:solidFill>
                <a:latin typeface="Segoe UI"/>
              </a:rPr>
              <a:t> into </a:t>
            </a:r>
            <a:r>
              <a:rPr sz="1250" b="1">
                <a:solidFill>
                  <a:srgbClr val="1A1A1A"/>
                </a:solidFill>
                <a:latin typeface="Segoe UI"/>
              </a:rPr>
              <a:t>your</a:t>
            </a:r>
            <a:r>
              <a:rPr sz="1250" b="0">
                <a:solidFill>
                  <a:srgbClr val="1A1A1A"/>
                </a:solidFill>
                <a:latin typeface="Segoe UI"/>
              </a:rPr>
              <a:t> project repo</a:t>
            </a:r>
          </a:p>
        </p:txBody>
      </p:sp>
      <p:sp>
        <p:nvSpPr>
          <p:cNvPr id="6" name="Right Arrow 5"/>
          <p:cNvSpPr/>
          <p:nvPr/>
        </p:nvSpPr>
        <p:spPr>
          <a:xfrm>
            <a:off x="2602931" y="3552444"/>
            <a:ext cx="274320" cy="237744"/>
          </a:xfrm>
          <a:prstGeom prst="rightArrow">
            <a:avLst/>
          </a:prstGeom>
          <a:solidFill>
            <a:srgbClr val="0A6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922971" y="2304379"/>
            <a:ext cx="1871411" cy="2733873"/>
          </a:xfrm>
          <a:prstGeom prst="roundRect">
            <a:avLst/>
          </a:prstGeom>
          <a:solidFill>
            <a:srgbClr val="E8F1FB"/>
          </a:solidFill>
          <a:ln w="15875">
            <a:solidFill>
              <a:srgbClr val="0A6ED1"/>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r>
              <a:rPr sz="1600" b="1">
                <a:solidFill>
                  <a:srgbClr val="054A8F"/>
                </a:solidFill>
                <a:latin typeface="Segoe UI"/>
              </a:rPr>
              <a:t>2. Copy</a:t>
            </a:r>
          </a:p>
          <a:p>
            <a:pPr algn="ctr">
              <a:spcBef>
                <a:spcPts val="400"/>
              </a:spcBef>
            </a:pPr>
            <a:r>
              <a:rPr sz="1250" b="0">
                <a:solidFill>
                  <a:srgbClr val="1A1A1A"/>
                </a:solidFill>
                <a:latin typeface="Consolas"/>
              </a:rPr>
              <a:t>.github/prompts/*.prompt.md</a:t>
            </a:r>
            <a:r>
              <a:rPr sz="1250" b="0">
                <a:solidFill>
                  <a:srgbClr val="1A1A1A"/>
                </a:solidFill>
                <a:latin typeface="Segoe UI"/>
              </a:rPr>
              <a:t> into the same repo</a:t>
            </a:r>
          </a:p>
        </p:txBody>
      </p:sp>
      <p:sp>
        <p:nvSpPr>
          <p:cNvPr id="8" name="Right Arrow 7"/>
          <p:cNvSpPr/>
          <p:nvPr/>
        </p:nvSpPr>
        <p:spPr>
          <a:xfrm>
            <a:off x="4840102" y="3552444"/>
            <a:ext cx="274320" cy="237744"/>
          </a:xfrm>
          <a:prstGeom prst="rightArrow">
            <a:avLst/>
          </a:prstGeom>
          <a:solidFill>
            <a:srgbClr val="0A6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160142" y="2304379"/>
            <a:ext cx="1871411" cy="2733873"/>
          </a:xfrm>
          <a:prstGeom prst="roundRect">
            <a:avLst/>
          </a:prstGeom>
          <a:solidFill>
            <a:srgbClr val="E8F1FB"/>
          </a:solidFill>
          <a:ln w="15875">
            <a:solidFill>
              <a:srgbClr val="0A6ED1"/>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r>
              <a:rPr sz="1600" b="1">
                <a:solidFill>
                  <a:srgbClr val="054A8F"/>
                </a:solidFill>
                <a:latin typeface="Segoe UI"/>
              </a:rPr>
              <a:t>3. Select</a:t>
            </a:r>
          </a:p>
          <a:p>
            <a:pPr algn="ctr">
              <a:spcBef>
                <a:spcPts val="400"/>
              </a:spcBef>
            </a:pPr>
            <a:r>
              <a:rPr sz="1250" b="0">
                <a:solidFill>
                  <a:srgbClr val="1A1A1A"/>
                </a:solidFill>
                <a:latin typeface="Segoe UI"/>
              </a:rPr>
              <a:t>Highlight the code or spec text first — that's </a:t>
            </a:r>
            <a:r>
              <a:rPr sz="1250" b="0">
                <a:solidFill>
                  <a:srgbClr val="1A1A1A"/>
                </a:solidFill>
                <a:latin typeface="Consolas"/>
              </a:rPr>
              <a:t>${selection}</a:t>
            </a:r>
          </a:p>
        </p:txBody>
      </p:sp>
      <p:sp>
        <p:nvSpPr>
          <p:cNvPr id="10" name="Right Arrow 9"/>
          <p:cNvSpPr/>
          <p:nvPr/>
        </p:nvSpPr>
        <p:spPr>
          <a:xfrm>
            <a:off x="7077273" y="3552444"/>
            <a:ext cx="274320" cy="237744"/>
          </a:xfrm>
          <a:prstGeom prst="rightArrow">
            <a:avLst/>
          </a:prstGeom>
          <a:solidFill>
            <a:srgbClr val="0A6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397313" y="2304379"/>
            <a:ext cx="1871411" cy="2733873"/>
          </a:xfrm>
          <a:prstGeom prst="roundRect">
            <a:avLst/>
          </a:prstGeom>
          <a:solidFill>
            <a:srgbClr val="E8F1FB"/>
          </a:solidFill>
          <a:ln w="15875">
            <a:solidFill>
              <a:srgbClr val="0A6ED1"/>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r>
              <a:rPr sz="1600" b="1">
                <a:solidFill>
                  <a:srgbClr val="054A8F"/>
                </a:solidFill>
                <a:latin typeface="Segoe UI"/>
              </a:rPr>
              <a:t>4. Run</a:t>
            </a:r>
          </a:p>
          <a:p>
            <a:pPr algn="ctr">
              <a:spcBef>
                <a:spcPts val="400"/>
              </a:spcBef>
            </a:pPr>
            <a:r>
              <a:rPr sz="1250" b="0">
                <a:solidFill>
                  <a:srgbClr val="1A1A1A"/>
                </a:solidFill>
                <a:latin typeface="Consolas"/>
              </a:rPr>
              <a:t>/rap-bo-scaffold</a:t>
            </a:r>
            <a:r>
              <a:rPr sz="1250" b="0">
                <a:solidFill>
                  <a:srgbClr val="1A1A1A"/>
                </a:solidFill>
                <a:latin typeface="Segoe UI"/>
              </a:rPr>
              <a:t> · </a:t>
            </a:r>
            <a:r>
              <a:rPr sz="1250" b="0">
                <a:solidFill>
                  <a:srgbClr val="1A1A1A"/>
                </a:solidFill>
                <a:latin typeface="Consolas"/>
              </a:rPr>
              <a:t>/abap-unit-test</a:t>
            </a:r>
            <a:r>
              <a:rPr sz="1250" b="0">
                <a:solidFill>
                  <a:srgbClr val="1A1A1A"/>
                </a:solidFill>
                <a:latin typeface="Segoe UI"/>
              </a:rPr>
              <a:t> · </a:t>
            </a:r>
            <a:r>
              <a:rPr sz="1250" b="0">
                <a:solidFill>
                  <a:srgbClr val="1A1A1A"/>
                </a:solidFill>
                <a:latin typeface="Consolas"/>
              </a:rPr>
              <a:t>/clean-abap-review</a:t>
            </a:r>
          </a:p>
        </p:txBody>
      </p:sp>
      <p:sp>
        <p:nvSpPr>
          <p:cNvPr id="12" name="Right Arrow 11"/>
          <p:cNvSpPr/>
          <p:nvPr/>
        </p:nvSpPr>
        <p:spPr>
          <a:xfrm>
            <a:off x="9314444" y="3552444"/>
            <a:ext cx="274320" cy="237744"/>
          </a:xfrm>
          <a:prstGeom prst="rightArrow">
            <a:avLst/>
          </a:prstGeom>
          <a:solidFill>
            <a:srgbClr val="0A6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634484" y="2304379"/>
            <a:ext cx="1871411" cy="2733873"/>
          </a:xfrm>
          <a:prstGeom prst="roundRect">
            <a:avLst/>
          </a:prstGeom>
          <a:solidFill>
            <a:srgbClr val="E8F1FB"/>
          </a:solidFill>
          <a:ln w="15875">
            <a:solidFill>
              <a:srgbClr val="0A6ED1"/>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r>
              <a:rPr sz="1600" b="1">
                <a:solidFill>
                  <a:srgbClr val="054A8F"/>
                </a:solidFill>
                <a:latin typeface="Segoe UI"/>
              </a:rPr>
              <a:t>5. Connect</a:t>
            </a:r>
          </a:p>
          <a:p>
            <a:pPr algn="ctr">
              <a:spcBef>
                <a:spcPts val="400"/>
              </a:spcBef>
            </a:pPr>
            <a:r>
              <a:rPr sz="1250" b="0">
                <a:solidFill>
                  <a:srgbClr val="1A1A1A"/>
                </a:solidFill>
                <a:latin typeface="Segoe UI"/>
              </a:rPr>
              <a:t>The ABAP MCP server, when system truth matters</a:t>
            </a:r>
          </a:p>
        </p:txBody>
      </p:sp>
      <p:sp>
        <p:nvSpPr>
          <p:cNvPr id="14" name="TextBox 13"/>
          <p:cNvSpPr txBox="1"/>
          <p:nvPr/>
        </p:nvSpPr>
        <p:spPr>
          <a:xfrm>
            <a:off x="685800" y="5852160"/>
            <a:ext cx="10817352" cy="411480"/>
          </a:xfrm>
          <a:prstGeom prst="rect">
            <a:avLst/>
          </a:prstGeom>
          <a:noFill/>
        </p:spPr>
        <p:txBody>
          <a:bodyPr wrap="square">
            <a:spAutoFit/>
          </a:bodyPr>
          <a:lstStyle/>
          <a:p>
            <a:pPr algn="ctr"/>
            <a:r>
              <a:rPr sz="1600" b="1">
                <a:solidFill>
                  <a:srgbClr val="054A8F"/>
                </a:solidFill>
                <a:latin typeface="Segoe UI"/>
              </a:rPr>
              <a:t>Steps 1 and 2 take two minutes and are the biggest single win.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84048"/>
            <a:ext cx="9326880" cy="868680"/>
          </a:xfrm>
          <a:prstGeom prst="rect">
            <a:avLst/>
          </a:prstGeom>
          <a:noFill/>
        </p:spPr>
        <p:txBody>
          <a:bodyPr wrap="square" anchor="t">
            <a:spAutoFit/>
          </a:bodyPr>
          <a:lstStyle/>
          <a:p>
            <a:r>
              <a:rPr sz="2900" b="1">
                <a:solidFill>
                  <a:srgbClr val="1A1A1A"/>
                </a:solidFill>
                <a:latin typeface="Segoe UI"/>
              </a:rPr>
              <a:t>Cheat Sheet — Screenshot This One</a:t>
            </a:r>
          </a:p>
        </p:txBody>
      </p:sp>
      <p:sp>
        <p:nvSpPr>
          <p:cNvPr id="3" name="Rectangle 2"/>
          <p:cNvSpPr/>
          <p:nvPr/>
        </p:nvSpPr>
        <p:spPr>
          <a:xfrm>
            <a:off x="685800" y="1316736"/>
            <a:ext cx="1051560" cy="50292"/>
          </a:xfrm>
          <a:prstGeom prst="rect">
            <a:avLst/>
          </a:prstGeom>
          <a:solidFill>
            <a:srgbClr val="0A6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378440" y="457200"/>
            <a:ext cx="1188720" cy="365760"/>
          </a:xfrm>
          <a:prstGeom prst="rect">
            <a:avLst/>
          </a:prstGeom>
          <a:noFill/>
        </p:spPr>
        <p:txBody>
          <a:bodyPr wrap="square">
            <a:spAutoFit/>
          </a:bodyPr>
          <a:lstStyle/>
          <a:p>
            <a:pPr algn="r"/>
            <a:r>
              <a:rPr sz="1200" b="1">
                <a:solidFill>
                  <a:srgbClr val="0A6ED1"/>
                </a:solidFill>
                <a:latin typeface="Segoe UI"/>
              </a:rPr>
              <a:t>1:00</a:t>
            </a:r>
          </a:p>
        </p:txBody>
      </p:sp>
      <p:sp>
        <p:nvSpPr>
          <p:cNvPr id="5" name="TextBox 4"/>
          <p:cNvSpPr txBox="1"/>
          <p:nvPr/>
        </p:nvSpPr>
        <p:spPr>
          <a:xfrm>
            <a:off x="685800" y="1600200"/>
            <a:ext cx="10817352" cy="4709160"/>
          </a:xfrm>
          <a:prstGeom prst="rect">
            <a:avLst/>
          </a:prstGeom>
          <a:noFill/>
        </p:spPr>
        <p:txBody>
          <a:bodyPr wrap="square">
            <a:spAutoFit/>
          </a:bodyPr>
          <a:lstStyle/>
          <a:p>
            <a:pPr>
              <a:spcAft>
                <a:spcPts val="1100"/>
              </a:spcAft>
            </a:pPr>
            <a:r>
              <a:rPr sz="1900" b="0">
                <a:solidFill>
                  <a:srgbClr val="1A1A1A"/>
                </a:solidFill>
                <a:latin typeface="Segoe UI"/>
              </a:rPr>
              <a:t>•  </a:t>
            </a:r>
            <a:r>
              <a:rPr sz="1900" b="1">
                <a:solidFill>
                  <a:srgbClr val="1A1A1A"/>
                </a:solidFill>
                <a:latin typeface="Segoe UI"/>
              </a:rPr>
              <a:t>L1 Ungrounded</a:t>
            </a:r>
            <a:r>
              <a:rPr sz="1900" b="0">
                <a:solidFill>
                  <a:srgbClr val="1A1A1A"/>
                </a:solidFill>
                <a:latin typeface="Segoe UI"/>
              </a:rPr>
              <a:t> — plain Copilot. Invents SAP names, writes classic ABAP.</a:t>
            </a:r>
          </a:p>
          <a:p>
            <a:pPr>
              <a:spcAft>
                <a:spcPts val="1100"/>
              </a:spcAft>
            </a:pPr>
            <a:r>
              <a:rPr sz="1900" b="0">
                <a:solidFill>
                  <a:srgbClr val="1A1A1A"/>
                </a:solidFill>
                <a:latin typeface="Segoe UI"/>
              </a:rPr>
              <a:t>•  </a:t>
            </a:r>
            <a:r>
              <a:rPr sz="1900" b="1">
                <a:solidFill>
                  <a:srgbClr val="1A1A1A"/>
                </a:solidFill>
                <a:latin typeface="Segoe UI"/>
              </a:rPr>
              <a:t>L2 Instructed</a:t>
            </a:r>
            <a:r>
              <a:rPr sz="1900" b="0">
                <a:solidFill>
                  <a:srgbClr val="1A1A1A"/>
                </a:solidFill>
                <a:latin typeface="Segoe UI"/>
              </a:rPr>
              <a:t> — copy </a:t>
            </a:r>
            <a:r>
              <a:rPr sz="1900" b="0">
                <a:solidFill>
                  <a:srgbClr val="1A1A1A"/>
                </a:solidFill>
                <a:latin typeface="Consolas"/>
              </a:rPr>
              <a:t>copilot-instructions.md</a:t>
            </a:r>
            <a:r>
              <a:rPr sz="1900" b="0">
                <a:solidFill>
                  <a:srgbClr val="1A1A1A"/>
                </a:solidFill>
                <a:latin typeface="Segoe UI"/>
              </a:rPr>
              <a:t> + </a:t>
            </a:r>
            <a:r>
              <a:rPr sz="1900" b="0">
                <a:solidFill>
                  <a:srgbClr val="1A1A1A"/>
                </a:solidFill>
                <a:latin typeface="Consolas"/>
              </a:rPr>
              <a:t>prompts/</a:t>
            </a:r>
            <a:r>
              <a:rPr sz="1900" b="0">
                <a:solidFill>
                  <a:srgbClr val="1A1A1A"/>
                </a:solidFill>
                <a:latin typeface="Segoe UI"/>
              </a:rPr>
              <a:t> into your repo. One file copy. Biggest single win.</a:t>
            </a:r>
          </a:p>
          <a:p>
            <a:pPr>
              <a:spcAft>
                <a:spcPts val="1100"/>
              </a:spcAft>
            </a:pPr>
            <a:r>
              <a:rPr sz="1900" b="0">
                <a:solidFill>
                  <a:srgbClr val="1A1A1A"/>
                </a:solidFill>
                <a:latin typeface="Segoe UI"/>
              </a:rPr>
              <a:t>•  </a:t>
            </a:r>
            <a:r>
              <a:rPr sz="1900" b="1">
                <a:solidFill>
                  <a:srgbClr val="1A1A1A"/>
                </a:solidFill>
                <a:latin typeface="Segoe UI"/>
              </a:rPr>
              <a:t>L3 Grounded</a:t>
            </a:r>
            <a:r>
              <a:rPr sz="1900" b="0">
                <a:solidFill>
                  <a:srgbClr val="1A1A1A"/>
                </a:solidFill>
                <a:latin typeface="Segoe UI"/>
              </a:rPr>
              <a:t> — connect the ABAP MCP server. Real objects, real field lists, real API states.</a:t>
            </a:r>
          </a:p>
          <a:p>
            <a:pPr>
              <a:spcAft>
                <a:spcPts val="1100"/>
              </a:spcAft>
            </a:pPr>
            <a:r>
              <a:rPr sz="1900" b="0">
                <a:solidFill>
                  <a:srgbClr val="1A1A1A"/>
                </a:solidFill>
                <a:latin typeface="Segoe UI"/>
              </a:rPr>
              <a:t>•  </a:t>
            </a:r>
            <a:r>
              <a:rPr sz="1900" b="1">
                <a:solidFill>
                  <a:srgbClr val="1A1A1A"/>
                </a:solidFill>
                <a:latin typeface="Segoe UI"/>
              </a:rPr>
              <a:t>Prompts:</a:t>
            </a:r>
            <a:r>
              <a:rPr sz="1900" b="0">
                <a:solidFill>
                  <a:srgbClr val="1A1A1A"/>
                </a:solidFill>
                <a:latin typeface="Segoe UI"/>
              </a:rPr>
              <a:t> </a:t>
            </a:r>
            <a:r>
              <a:rPr sz="1900" b="0">
                <a:solidFill>
                  <a:srgbClr val="1A1A1A"/>
                </a:solidFill>
                <a:latin typeface="Consolas"/>
              </a:rPr>
              <a:t>/rap-bo-scaffold</a:t>
            </a:r>
            <a:r>
              <a:rPr sz="1900" b="0">
                <a:solidFill>
                  <a:srgbClr val="1A1A1A"/>
                </a:solidFill>
                <a:latin typeface="Segoe UI"/>
              </a:rPr>
              <a:t> </a:t>
            </a:r>
            <a:r>
              <a:rPr sz="1900" b="0">
                <a:solidFill>
                  <a:srgbClr val="1A1A1A"/>
                </a:solidFill>
                <a:latin typeface="Consolas"/>
              </a:rPr>
              <a:t>/cds-view-scaffold</a:t>
            </a:r>
            <a:r>
              <a:rPr sz="1900" b="0">
                <a:solidFill>
                  <a:srgbClr val="1A1A1A"/>
                </a:solidFill>
                <a:latin typeface="Segoe UI"/>
              </a:rPr>
              <a:t> </a:t>
            </a:r>
            <a:r>
              <a:rPr sz="1900" b="0">
                <a:solidFill>
                  <a:srgbClr val="1A1A1A"/>
                </a:solidFill>
                <a:latin typeface="Consolas"/>
              </a:rPr>
              <a:t>/abap-unit-test</a:t>
            </a:r>
            <a:r>
              <a:rPr sz="1900" b="0">
                <a:solidFill>
                  <a:srgbClr val="1A1A1A"/>
                </a:solidFill>
                <a:latin typeface="Segoe UI"/>
              </a:rPr>
              <a:t> </a:t>
            </a:r>
            <a:r>
              <a:rPr sz="1900" b="0">
                <a:solidFill>
                  <a:srgbClr val="1A1A1A"/>
                </a:solidFill>
                <a:latin typeface="Consolas"/>
              </a:rPr>
              <a:t>/odata-service-expose</a:t>
            </a:r>
            <a:r>
              <a:rPr sz="1900" b="0">
                <a:solidFill>
                  <a:srgbClr val="1A1A1A"/>
                </a:solidFill>
                <a:latin typeface="Segoe UI"/>
              </a:rPr>
              <a:t> </a:t>
            </a:r>
            <a:r>
              <a:rPr sz="1900" b="0">
                <a:solidFill>
                  <a:srgbClr val="1A1A1A"/>
                </a:solidFill>
                <a:latin typeface="Consolas"/>
              </a:rPr>
              <a:t>/clean-abap-review</a:t>
            </a:r>
            <a:r>
              <a:rPr sz="1900" b="0">
                <a:solidFill>
                  <a:srgbClr val="1A1A1A"/>
                </a:solidFill>
                <a:latin typeface="Segoe UI"/>
              </a:rPr>
              <a:t> </a:t>
            </a:r>
            <a:r>
              <a:rPr sz="1900" b="0">
                <a:solidFill>
                  <a:srgbClr val="1A1A1A"/>
                </a:solidFill>
                <a:latin typeface="Consolas"/>
              </a:rPr>
              <a:t>/abap-cloud-readiness</a:t>
            </a:r>
          </a:p>
          <a:p>
            <a:pPr>
              <a:spcAft>
                <a:spcPts val="1100"/>
              </a:spcAft>
            </a:pPr>
            <a:r>
              <a:rPr sz="1900" b="0">
                <a:solidFill>
                  <a:srgbClr val="1A1A1A"/>
                </a:solidFill>
                <a:latin typeface="Segoe UI"/>
              </a:rPr>
              <a:t>•  </a:t>
            </a:r>
            <a:r>
              <a:rPr sz="1900" b="1">
                <a:solidFill>
                  <a:srgbClr val="1A1A1A"/>
                </a:solidFill>
                <a:latin typeface="Segoe UI"/>
              </a:rPr>
              <a:t>Rule 1:</a:t>
            </a:r>
            <a:r>
              <a:rPr sz="1900" b="0">
                <a:solidFill>
                  <a:srgbClr val="1A1A1A"/>
                </a:solidFill>
                <a:latin typeface="Segoe UI"/>
              </a:rPr>
              <a:t> AI authorship ≠ compliance. · </a:t>
            </a:r>
            <a:r>
              <a:rPr sz="1900" b="1">
                <a:solidFill>
                  <a:srgbClr val="1A1A1A"/>
                </a:solidFill>
                <a:latin typeface="Segoe UI"/>
              </a:rPr>
              <a:t>Rule 2:</a:t>
            </a:r>
            <a:r>
              <a:rPr sz="1900" b="0">
                <a:solidFill>
                  <a:srgbClr val="1A1A1A"/>
                </a:solidFill>
                <a:latin typeface="Segoe UI"/>
              </a:rPr>
              <a:t> Generated code is reviewed like hand-written. The author owns it.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84048"/>
            <a:ext cx="9326880" cy="868680"/>
          </a:xfrm>
          <a:prstGeom prst="rect">
            <a:avLst/>
          </a:prstGeom>
          <a:noFill/>
        </p:spPr>
        <p:txBody>
          <a:bodyPr wrap="square" anchor="t">
            <a:spAutoFit/>
          </a:bodyPr>
          <a:lstStyle/>
          <a:p>
            <a:r>
              <a:rPr sz="2900" b="1">
                <a:solidFill>
                  <a:srgbClr val="1A1A1A"/>
                </a:solidFill>
                <a:latin typeface="Segoe UI"/>
              </a:rPr>
              <a:t>Discussion + Next Session</a:t>
            </a:r>
          </a:p>
        </p:txBody>
      </p:sp>
      <p:sp>
        <p:nvSpPr>
          <p:cNvPr id="3" name="Rectangle 2"/>
          <p:cNvSpPr/>
          <p:nvPr/>
        </p:nvSpPr>
        <p:spPr>
          <a:xfrm>
            <a:off x="685800" y="1316736"/>
            <a:ext cx="1051560" cy="50292"/>
          </a:xfrm>
          <a:prstGeom prst="rect">
            <a:avLst/>
          </a:prstGeom>
          <a:solidFill>
            <a:srgbClr val="0A6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378440" y="457200"/>
            <a:ext cx="1188720" cy="365760"/>
          </a:xfrm>
          <a:prstGeom prst="rect">
            <a:avLst/>
          </a:prstGeom>
          <a:noFill/>
        </p:spPr>
        <p:txBody>
          <a:bodyPr wrap="square">
            <a:spAutoFit/>
          </a:bodyPr>
          <a:lstStyle/>
          <a:p>
            <a:pPr algn="r"/>
            <a:r>
              <a:rPr sz="1200" b="1">
                <a:solidFill>
                  <a:srgbClr val="0A6ED1"/>
                </a:solidFill>
                <a:latin typeface="Segoe UI"/>
              </a:rPr>
              <a:t>5:00</a:t>
            </a:r>
          </a:p>
        </p:txBody>
      </p:sp>
      <p:sp>
        <p:nvSpPr>
          <p:cNvPr id="5" name="TextBox 4"/>
          <p:cNvSpPr txBox="1"/>
          <p:nvPr/>
        </p:nvSpPr>
        <p:spPr>
          <a:xfrm>
            <a:off x="685800" y="1600200"/>
            <a:ext cx="10817352" cy="4709160"/>
          </a:xfrm>
          <a:prstGeom prst="rect">
            <a:avLst/>
          </a:prstGeom>
          <a:noFill/>
        </p:spPr>
        <p:txBody>
          <a:bodyPr wrap="square">
            <a:spAutoFit/>
          </a:bodyPr>
          <a:lstStyle/>
          <a:p>
            <a:pPr>
              <a:spcAft>
                <a:spcPts val="1100"/>
              </a:spcAft>
            </a:pPr>
            <a:r>
              <a:rPr sz="1900" b="0">
                <a:solidFill>
                  <a:srgbClr val="1A1A1A"/>
                </a:solidFill>
                <a:latin typeface="Segoe UI"/>
              </a:rPr>
              <a:t>•  Where did Copilot last give you something </a:t>
            </a:r>
            <a:r>
              <a:rPr sz="1900" b="1">
                <a:solidFill>
                  <a:srgbClr val="1A1A1A"/>
                </a:solidFill>
                <a:latin typeface="Segoe UI"/>
              </a:rPr>
              <a:t>confidently wrong</a:t>
            </a:r>
            <a:r>
              <a:rPr sz="1900" b="0">
                <a:solidFill>
                  <a:srgbClr val="1A1A1A"/>
                </a:solidFill>
                <a:latin typeface="Segoe UI"/>
              </a:rPr>
              <a:t> in ABAP — and what would have caught it: the instructions, the MCP connection, or review?</a:t>
            </a:r>
          </a:p>
          <a:p>
            <a:pPr>
              <a:spcAft>
                <a:spcPts val="1100"/>
              </a:spcAft>
            </a:pPr>
            <a:r>
              <a:rPr sz="1900" b="0">
                <a:solidFill>
                  <a:srgbClr val="1A1A1A"/>
                </a:solidFill>
                <a:latin typeface="Segoe UI"/>
              </a:rPr>
              <a:t>•  If an agent can read objects, run syntax checks and touch transport requests — what should it </a:t>
            </a:r>
            <a:r>
              <a:rPr sz="1900" b="1">
                <a:solidFill>
                  <a:srgbClr val="1A1A1A"/>
                </a:solidFill>
                <a:latin typeface="Segoe UI"/>
              </a:rPr>
              <a:t>never</a:t>
            </a:r>
            <a:r>
              <a:rPr sz="1900" b="0">
                <a:solidFill>
                  <a:srgbClr val="1A1A1A"/>
                </a:solidFill>
                <a:latin typeface="Segoe UI"/>
              </a:rPr>
              <a:t> do without a human approving it first?</a:t>
            </a:r>
          </a:p>
          <a:p>
            <a:pPr>
              <a:spcAft>
                <a:spcPts val="1100"/>
              </a:spcAft>
            </a:pPr>
            <a:r>
              <a:rPr sz="1900" b="0">
                <a:solidFill>
                  <a:srgbClr val="1A1A1A"/>
                </a:solidFill>
                <a:latin typeface="Segoe UI"/>
              </a:rPr>
              <a:t>•  </a:t>
            </a:r>
            <a:r>
              <a:rPr sz="1900" b="1">
                <a:solidFill>
                  <a:srgbClr val="1A1A1A"/>
                </a:solidFill>
                <a:latin typeface="Segoe UI"/>
              </a:rPr>
              <a:t>Next: Session 02, 25 Sept — RAP managed Business Object end-to-end</a:t>
            </a:r>
          </a:p>
          <a:p>
            <a:pPr>
              <a:spcAft>
                <a:spcPts val="1100"/>
              </a:spcAft>
            </a:pPr>
            <a:r>
              <a:rPr sz="1900" b="0">
                <a:solidFill>
                  <a:srgbClr val="1A1A1A"/>
                </a:solidFill>
                <a:latin typeface="Segoe UI"/>
              </a:rPr>
              <a:t>•  *It will write you a determination where the rule should have been a validation. Session 2 is how you tell.*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